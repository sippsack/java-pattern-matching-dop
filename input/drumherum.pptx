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87" r:id="rId1"/>
  </p:sldMasterIdLst>
  <p:notesMasterIdLst>
    <p:notesMasterId r:id="rId13"/>
  </p:notesMasterIdLst>
  <p:handoutMasterIdLst>
    <p:handoutMasterId r:id="rId14"/>
  </p:handoutMasterIdLst>
  <p:sldIdLst>
    <p:sldId id="1433" r:id="rId2"/>
    <p:sldId id="1731" r:id="rId3"/>
    <p:sldId id="1732" r:id="rId4"/>
    <p:sldId id="1785" r:id="rId5"/>
    <p:sldId id="1060" r:id="rId6"/>
    <p:sldId id="1940" r:id="rId7"/>
    <p:sldId id="2876" r:id="rId8"/>
    <p:sldId id="1943" r:id="rId9"/>
    <p:sldId id="1419" r:id="rId10"/>
    <p:sldId id="2788" r:id="rId11"/>
    <p:sldId id="2725" r:id="rId12"/>
  </p:sldIdLst>
  <p:sldSz cx="9144000" cy="5143500" type="screen16x9"/>
  <p:notesSz cx="6797675" cy="9926638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(0) Prolog" id="{936D0A99-DA2D-F94B-B747-B66F37FF8DE1}">
          <p14:sldIdLst>
            <p14:sldId id="1433"/>
            <p14:sldId id="1731"/>
            <p14:sldId id="1732"/>
            <p14:sldId id="1785"/>
          </p14:sldIdLst>
        </p14:section>
        <p14:section name="(4) Fazit + Ausblick" id="{530F2C88-6905-9840-AF8C-24C52381E546}">
          <p14:sldIdLst>
            <p14:sldId id="1060"/>
            <p14:sldId id="1940"/>
            <p14:sldId id="2876"/>
            <p14:sldId id="1943"/>
            <p14:sldId id="1419"/>
            <p14:sldId id="2788"/>
            <p14:sldId id="27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AAE"/>
    <a:srgbClr val="C1E5D9"/>
    <a:srgbClr val="7DC7AE"/>
    <a:srgbClr val="E17A7C"/>
    <a:srgbClr val="F6DC3B"/>
    <a:srgbClr val="EDAFAD"/>
    <a:srgbClr val="F5989C"/>
    <a:srgbClr val="EB3C44"/>
    <a:srgbClr val="46AFE2"/>
    <a:srgbClr val="98D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ittlere Formatvorlage 4 - Akz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62" autoAdjust="0"/>
    <p:restoredTop sz="77397" autoAdjust="0"/>
  </p:normalViewPr>
  <p:slideViewPr>
    <p:cSldViewPr>
      <p:cViewPr varScale="1">
        <p:scale>
          <a:sx n="123" d="100"/>
          <a:sy n="123" d="100"/>
        </p:scale>
        <p:origin x="976" y="192"/>
      </p:cViewPr>
      <p:guideLst>
        <p:guide orient="horz" pos="1620"/>
        <p:guide pos="2971"/>
      </p:guideLst>
    </p:cSldViewPr>
  </p:slideViewPr>
  <p:outlineViewPr>
    <p:cViewPr>
      <p:scale>
        <a:sx n="33" d="100"/>
        <a:sy n="33" d="100"/>
      </p:scale>
      <p:origin x="0" y="-16"/>
    </p:cViewPr>
  </p:outlin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>
        <p:scale>
          <a:sx n="166" d="100"/>
          <a:sy n="166" d="100"/>
        </p:scale>
        <p:origin x="1016" y="-2640"/>
      </p:cViewPr>
      <p:guideLst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6559E-8880-49AA-ACC9-C830E2B49428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41F7407-AA11-0AA5-08A1-A00412E616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2973" y="235481"/>
            <a:ext cx="1656336" cy="4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425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A6431F-5C24-48D5-8CF7-C3892E27EBEC}" type="datetimeFigureOut">
              <a:rPr lang="de-DE" smtClean="0"/>
              <a:pPr/>
              <a:t>13.10.26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4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31006-95BA-49DF-B3F8-0FB49B146443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9070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Rajdhani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6513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5954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https://</a:t>
            </a:r>
            <a:r>
              <a:rPr lang="de-DE" dirty="0" err="1"/>
              <a:t>wiki.openjdk.org</a:t>
            </a:r>
            <a:r>
              <a:rPr lang="de-DE" dirty="0"/>
              <a:t>/</a:t>
            </a:r>
            <a:r>
              <a:rPr lang="de-DE" dirty="0" err="1"/>
              <a:t>pages</a:t>
            </a:r>
            <a:r>
              <a:rPr lang="de-DE" dirty="0"/>
              <a:t>/</a:t>
            </a:r>
            <a:r>
              <a:rPr lang="de-DE" dirty="0" err="1"/>
              <a:t>diffpagesbyversion.action?pageId</a:t>
            </a:r>
            <a:r>
              <a:rPr lang="de-DE" dirty="0"/>
              <a:t>=51282050&amp;selectedPageVersions=7&amp;selectedPageVersions=6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1876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00515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2072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511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131006-95BA-49DF-B3F8-0FB49B146443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498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A3A6D9E-2F42-7841-95B1-8E9601295FBE}"/>
              </a:ext>
            </a:extLst>
          </p:cNvPr>
          <p:cNvSpPr/>
          <p:nvPr userDrawn="1"/>
        </p:nvSpPr>
        <p:spPr>
          <a:xfrm>
            <a:off x="0" y="0"/>
            <a:ext cx="9252520" cy="5173290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59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65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253D8B-0981-0A1C-714E-92871B58F7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28763" y="4353520"/>
            <a:ext cx="1535725" cy="3782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03EB384-8F6E-4C42-8929-03958C2C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398" y="771550"/>
            <a:ext cx="7886700" cy="2160240"/>
          </a:xfrm>
        </p:spPr>
        <p:txBody>
          <a:bodyPr anchor="b">
            <a:noAutofit/>
          </a:bodyPr>
          <a:lstStyle>
            <a:lvl1pPr>
              <a:defRPr sz="7200" b="1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4AD67A-4FAF-D345-BC5D-D26B62140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398" y="3010158"/>
            <a:ext cx="7886700" cy="569704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C824156-7861-1144-A2E2-8F4D80BAD861}"/>
              </a:ext>
            </a:extLst>
          </p:cNvPr>
          <p:cNvSpPr txBox="1">
            <a:spLocks/>
          </p:cNvSpPr>
          <p:nvPr userDrawn="1"/>
        </p:nvSpPr>
        <p:spPr>
          <a:xfrm>
            <a:off x="3491880" y="2672827"/>
            <a:ext cx="5041218" cy="1800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i="0" kern="1200">
                <a:solidFill>
                  <a:schemeClr val="accent1"/>
                </a:solidFill>
                <a:latin typeface="Fira Sans Medium" panose="020B0503050000020004" pitchFamily="34" charset="0"/>
                <a:ea typeface="+mj-ea"/>
                <a:cs typeface="+mj-cs"/>
              </a:defRPr>
            </a:lvl1pPr>
          </a:lstStyle>
          <a:p>
            <a:endParaRPr lang="de-DE" sz="3200" b="0" i="0" dirty="0">
              <a:solidFill>
                <a:schemeClr val="bg1"/>
              </a:solidFill>
              <a:latin typeface="Fira Sans Light" panose="020B04030500000200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1462791-EBF0-994B-8F9A-77CCB50EDA6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46398" y="3852968"/>
            <a:ext cx="3781586" cy="980099"/>
          </a:xfrm>
        </p:spPr>
        <p:txBody>
          <a:bodyPr anchor="b"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Neo Sans Std" panose="020B05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7D6299B-8169-5C40-9426-0B7E481B9E5F}"/>
              </a:ext>
            </a:extLst>
          </p:cNvPr>
          <p:cNvSpPr/>
          <p:nvPr userDrawn="1"/>
        </p:nvSpPr>
        <p:spPr>
          <a:xfrm>
            <a:off x="-1" y="5015192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3DE6B842-0F5E-5649-BCB1-A7A8D17C9425}"/>
              </a:ext>
            </a:extLst>
          </p:cNvPr>
          <p:cNvSpPr/>
          <p:nvPr userDrawn="1"/>
        </p:nvSpPr>
        <p:spPr>
          <a:xfrm>
            <a:off x="2305252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4A34FE1-55CD-BC48-BBAE-AB0585DD1E04}"/>
              </a:ext>
            </a:extLst>
          </p:cNvPr>
          <p:cNvSpPr/>
          <p:nvPr userDrawn="1"/>
        </p:nvSpPr>
        <p:spPr>
          <a:xfrm>
            <a:off x="4609252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A392AB4-C64E-7644-A582-8D2B9BB4C3DD}"/>
              </a:ext>
            </a:extLst>
          </p:cNvPr>
          <p:cNvSpPr/>
          <p:nvPr userDrawn="1"/>
        </p:nvSpPr>
        <p:spPr>
          <a:xfrm>
            <a:off x="6948519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434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B984F9D-DAE7-8C48-884C-8C52CE9D7B19}"/>
              </a:ext>
            </a:extLst>
          </p:cNvPr>
          <p:cNvSpPr/>
          <p:nvPr userDrawn="1"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bg1">
                  <a:lumMod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8A687E5-6844-5B44-82E1-066CCC4AF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3186" y="716294"/>
            <a:ext cx="3888432" cy="1090519"/>
          </a:xfrm>
        </p:spPr>
        <p:txBody>
          <a:bodyPr anchor="b">
            <a:noAutofit/>
          </a:bodyPr>
          <a:lstStyle>
            <a:lvl1pPr algn="ctr">
              <a:defRPr sz="2800" b="1" i="0">
                <a:solidFill>
                  <a:schemeClr val="tx1">
                    <a:lumMod val="75000"/>
                    <a:lumOff val="2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D6FA032-3C0D-AD4B-A8B6-143ABE5DB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186" y="2029807"/>
            <a:ext cx="3888432" cy="2347773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Rajdhani Medium" panose="02000000000000000000" pitchFamily="2" charset="77"/>
                <a:cs typeface="Rajdhani Medium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3E85CBC-2CF1-3A4D-85BB-9463517C8CB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304" y="4371950"/>
            <a:ext cx="1584604" cy="588635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5E3D87CE-7F31-0A4F-B6B9-BCA3383CA907}"/>
              </a:ext>
            </a:extLst>
          </p:cNvPr>
          <p:cNvSpPr/>
          <p:nvPr userDrawn="1"/>
        </p:nvSpPr>
        <p:spPr>
          <a:xfrm>
            <a:off x="-1" y="5019464"/>
            <a:ext cx="2339267" cy="1587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AD4D47D-B70E-4544-B632-1A525EF11847}"/>
              </a:ext>
            </a:extLst>
          </p:cNvPr>
          <p:cNvSpPr/>
          <p:nvPr userDrawn="1"/>
        </p:nvSpPr>
        <p:spPr>
          <a:xfrm>
            <a:off x="2232733" y="5015192"/>
            <a:ext cx="2339267" cy="1587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B4B0863-95CF-4544-A7AF-8FF70AE14826}"/>
              </a:ext>
            </a:extLst>
          </p:cNvPr>
          <p:cNvSpPr/>
          <p:nvPr userDrawn="1"/>
        </p:nvSpPr>
        <p:spPr>
          <a:xfrm>
            <a:off x="4572000" y="5015192"/>
            <a:ext cx="2339267" cy="15870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ACA1D51F-4888-724B-8702-5FF352F9AD4E}"/>
              </a:ext>
            </a:extLst>
          </p:cNvPr>
          <p:cNvSpPr/>
          <p:nvPr userDrawn="1"/>
        </p:nvSpPr>
        <p:spPr>
          <a:xfrm>
            <a:off x="6876256" y="5015192"/>
            <a:ext cx="2339267" cy="15870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79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548EA-F2B1-C648-84B9-0BAF0DAE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63136"/>
            <a:ext cx="8191822" cy="711894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D96EEC-6206-A948-8758-A745E6AEA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203598"/>
            <a:ext cx="8191822" cy="3428727"/>
          </a:xfrm>
        </p:spPr>
        <p:txBody>
          <a:bodyPr/>
          <a:lstStyle>
            <a:lvl1pPr marL="312738" indent="-312738">
              <a:tabLst/>
              <a:defRPr/>
            </a:lvl1pPr>
            <a:lvl2pPr marL="763588" indent="-306388">
              <a:tabLst/>
              <a:defRPr/>
            </a:lvl2pPr>
            <a:lvl3pPr marL="1200150" indent="-285750">
              <a:tabLst/>
              <a:defRPr/>
            </a:lvl3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BAA9CE1-130D-A441-ABE6-C5BB89F4373C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1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42ACAD-E7F8-074B-BFBE-8C8D9AB74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42" y="108224"/>
            <a:ext cx="7886700" cy="807342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61026A-A9DE-4441-A5C8-DA3193968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373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A92D1E-DA41-CD43-94E0-9C0C80C33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93282" y="1275606"/>
            <a:ext cx="3867150" cy="3578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EE58E75D-C6AA-AE4B-BD32-B28416529033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91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E83BF7-2082-094D-BF7A-E86D3FF1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95486"/>
            <a:ext cx="7886700" cy="72008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BCBCD8D-832D-4E45-BEE6-8AE0B827A476}"/>
              </a:ext>
            </a:extLst>
          </p:cNvPr>
          <p:cNvSpPr/>
          <p:nvPr userDrawn="1"/>
        </p:nvSpPr>
        <p:spPr>
          <a:xfrm>
            <a:off x="611560" y="915566"/>
            <a:ext cx="1495078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397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4A4FD-B2F3-5A4B-9040-911FEB0F9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-112938" y="4666679"/>
            <a:ext cx="63098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Fira Sans Medium" panose="020B0503050000020004" pitchFamily="34" charset="0"/>
              </a:defRPr>
            </a:lvl1pPr>
          </a:lstStyle>
          <a:p>
            <a:fld id="{C8B90A7D-F248-6040-B6B7-D4C3D64022CF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40966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51EB6C-01FE-4440-B657-ADF2F3E2A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482AF0-C6F5-9D4F-B077-385AE68F8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342901"/>
            <a:ext cx="4629150" cy="452675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741334-7FC7-9048-9F24-A52FA4777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B99D17D-CA11-5845-BCAF-7D2B32EF025E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88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B723A-7B6B-AB48-8342-4D9F5087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58077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A2CA-57D5-B64F-835F-CA67E5103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342901"/>
            <a:ext cx="4629150" cy="452675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12C099-ECB5-164C-8D00-D72C153E0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139702"/>
            <a:ext cx="2949575" cy="27363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EB484D8-E641-4C47-B842-6DB40A5876F1}"/>
              </a:ext>
            </a:extLst>
          </p:cNvPr>
          <p:cNvSpPr/>
          <p:nvPr userDrawn="1"/>
        </p:nvSpPr>
        <p:spPr>
          <a:xfrm>
            <a:off x="628650" y="1923678"/>
            <a:ext cx="1495078" cy="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26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4294251">
            <a:off x="6352860" y="305732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81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2979668">
            <a:off x="6958005" y="-1360959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236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1E9C2E2-EDD2-A146-B566-206D2E8C1AF8}"/>
              </a:ext>
            </a:extLst>
          </p:cNvPr>
          <p:cNvSpPr/>
          <p:nvPr userDrawn="1"/>
        </p:nvSpPr>
        <p:spPr>
          <a:xfrm>
            <a:off x="372181" y="-20538"/>
            <a:ext cx="8771819" cy="5164038"/>
          </a:xfrm>
          <a:prstGeom prst="rect">
            <a:avLst/>
          </a:prstGeom>
          <a:solidFill>
            <a:schemeClr val="accent4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EE8724-A165-414A-AF42-E49E53A1A00B}"/>
              </a:ext>
            </a:extLst>
          </p:cNvPr>
          <p:cNvSpPr/>
          <p:nvPr userDrawn="1"/>
        </p:nvSpPr>
        <p:spPr>
          <a:xfrm rot="18675371">
            <a:off x="4523611" y="185343"/>
            <a:ext cx="7983481" cy="62646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C622CD-3D03-5045-BBB3-02862ACA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99937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VD Titel mit Quellcode (Courier Ne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317C957-EA31-48D1-B24A-3EA51261B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>
            <a:lvl1pPr>
              <a:defRPr lang="de-DE" sz="1600" b="1" kern="1200" baseline="0" dirty="0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defRPr>
            </a:lvl1pPr>
            <a:lvl2pPr>
              <a:defRPr lang="de-DE" sz="1600" b="1" kern="1200" baseline="0" dirty="0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defRPr>
            </a:lvl2pPr>
            <a:lvl3pPr>
              <a:defRPr lang="de-DE" sz="1600" b="1" kern="1200" baseline="0" dirty="0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defRPr>
            </a:lvl3pPr>
            <a:lvl4pPr>
              <a:defRPr lang="de-DE" sz="1600" b="1" kern="1200" baseline="0" dirty="0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defRPr>
            </a:lvl4pPr>
            <a:lvl5pPr>
              <a:defRPr lang="de-DE" sz="1600" b="1" kern="1200" baseline="0" dirty="0">
                <a:solidFill>
                  <a:srgbClr val="000000"/>
                </a:solidFill>
                <a:latin typeface="Courier New" pitchFamily="49" charset="0"/>
                <a:ea typeface="+mn-ea"/>
                <a:cs typeface="Courier New" pitchFamily="49" charset="0"/>
              </a:defRPr>
            </a:lvl5pPr>
          </a:lstStyle>
          <a:p>
            <a:pPr marL="342892" lvl="0" indent="-342892">
              <a:spcBef>
                <a:spcPct val="20000"/>
              </a:spcBef>
              <a:buNone/>
            </a:pPr>
            <a:r>
              <a:rPr lang="de-DE"/>
              <a:t>Mastertextformat bearbeiten</a:t>
            </a:r>
          </a:p>
          <a:p>
            <a:pPr marL="342892" lvl="1" indent="-342892">
              <a:spcBef>
                <a:spcPct val="20000"/>
              </a:spcBef>
              <a:buNone/>
            </a:pPr>
            <a:r>
              <a:rPr lang="de-DE"/>
              <a:t>Zweite Ebene</a:t>
            </a:r>
          </a:p>
          <a:p>
            <a:pPr marL="342892" lvl="2" indent="-342892">
              <a:spcBef>
                <a:spcPct val="20000"/>
              </a:spcBef>
              <a:buNone/>
            </a:pPr>
            <a:r>
              <a:rPr lang="de-DE"/>
              <a:t>Dritte Ebene</a:t>
            </a:r>
          </a:p>
          <a:p>
            <a:pPr marL="342892" lvl="3" indent="-342892">
              <a:spcBef>
                <a:spcPct val="20000"/>
              </a:spcBef>
              <a:buNone/>
            </a:pPr>
            <a:r>
              <a:rPr lang="de-DE"/>
              <a:t>Vierte Ebene</a:t>
            </a:r>
          </a:p>
          <a:p>
            <a:pPr marL="342892" lvl="4" indent="-342892">
              <a:spcBef>
                <a:spcPct val="20000"/>
              </a:spcBef>
              <a:buNone/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85F4694-0201-4A95-A80F-07275745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8C536E-E9F4-42E9-BC42-1D2DFCA05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Java Persistence API mit Hibernate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5ED5B3-4BF8-4524-8990-0257D2E9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BD7C1-51EB-4865-9A96-3F34B13A13C1}" type="slidenum">
              <a:rPr lang="de-DE" smtClean="0"/>
              <a:t>‹#›</a:t>
            </a:fld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FBA28038-62F4-4FA3-B3CD-D083F4C2A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9274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EF321B48-0048-6549-8EAF-E4472677883F}"/>
              </a:ext>
            </a:extLst>
          </p:cNvPr>
          <p:cNvSpPr/>
          <p:nvPr userDrawn="1"/>
        </p:nvSpPr>
        <p:spPr>
          <a:xfrm>
            <a:off x="-4188" y="0"/>
            <a:ext cx="360000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37000">
                <a:schemeClr val="tx1">
                  <a:lumMod val="50000"/>
                  <a:lumOff val="50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F33FC7C-0AB9-B579-BE30-6805EF50B9A6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90" y="147504"/>
            <a:ext cx="242704" cy="259020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308333-4F33-7F41-AB25-8120E9BD4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8224"/>
            <a:ext cx="7886700" cy="951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0169D1-8573-BF44-94C9-E1E811AAA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203598"/>
            <a:ext cx="7886700" cy="3428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4E85FEE-68EC-E940-AF9E-F931B49ADE29}"/>
              </a:ext>
            </a:extLst>
          </p:cNvPr>
          <p:cNvSpPr txBox="1"/>
          <p:nvPr userDrawn="1"/>
        </p:nvSpPr>
        <p:spPr>
          <a:xfrm>
            <a:off x="-46540" y="4803998"/>
            <a:ext cx="4844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C8B90A7D-F248-6040-B6B7-D4C3D64022CF}" type="slidenum">
              <a:rPr lang="de-DE" sz="1400" b="1" i="0" smtClean="0">
                <a:solidFill>
                  <a:schemeClr val="bg1">
                    <a:lumMod val="85000"/>
                  </a:schemeClr>
                </a:solidFill>
                <a:latin typeface="Rajdhani SemiBold" panose="02000000000000000000" pitchFamily="2" charset="77"/>
                <a:cs typeface="Rajdhani SemiBold" panose="02000000000000000000" pitchFamily="2" charset="77"/>
              </a:rPr>
              <a:pPr algn="ctr"/>
              <a:t>‹#›</a:t>
            </a:fld>
            <a:endParaRPr lang="de-DE" sz="1400" b="1" i="0" dirty="0">
              <a:solidFill>
                <a:schemeClr val="bg1">
                  <a:lumMod val="85000"/>
                </a:schemeClr>
              </a:solidFill>
              <a:latin typeface="Rajdhani SemiBold" panose="02000000000000000000" pitchFamily="2" charset="77"/>
              <a:cs typeface="Rajdhani SemiBold" panose="02000000000000000000" pitchFamily="2" charset="77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956611A-6D34-6140-B704-8EC4F42F8C83}"/>
              </a:ext>
            </a:extLst>
          </p:cNvPr>
          <p:cNvSpPr txBox="1"/>
          <p:nvPr userDrawn="1"/>
        </p:nvSpPr>
        <p:spPr>
          <a:xfrm rot="16200000">
            <a:off x="-1518690" y="2931174"/>
            <a:ext cx="3428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dirty="0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Java 26 + 27 – Die Neuerungen im Überblick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FB145EC-EAC9-1BB5-9EAA-56417FB4CD85}"/>
              </a:ext>
            </a:extLst>
          </p:cNvPr>
          <p:cNvSpPr txBox="1"/>
          <p:nvPr userDrawn="1"/>
        </p:nvSpPr>
        <p:spPr>
          <a:xfrm rot="16200000">
            <a:off x="-267506" y="746264"/>
            <a:ext cx="8640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de-DE" sz="1100" b="0" i="0" noProof="1">
                <a:solidFill>
                  <a:schemeClr val="bg1">
                    <a:lumMod val="85000"/>
                  </a:schemeClr>
                </a:solidFill>
                <a:latin typeface="Rajdhani" panose="02000000000000000000" pitchFamily="2" charset="77"/>
                <a:cs typeface="Rajdhani" panose="02000000000000000000" pitchFamily="2" charset="77"/>
              </a:rPr>
              <a:t>embarc.de</a:t>
            </a:r>
          </a:p>
        </p:txBody>
      </p:sp>
    </p:spTree>
    <p:extLst>
      <p:ext uri="{BB962C8B-B14F-4D97-AF65-F5344CB8AC3E}">
        <p14:creationId xmlns:p14="http://schemas.microsoft.com/office/powerpoint/2010/main" val="243117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8" r:id="rId2"/>
    <p:sldLayoutId id="2147483689" r:id="rId3"/>
    <p:sldLayoutId id="2147483691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Rajdhani" panose="02000000000000000000" pitchFamily="2" charset="77"/>
          <a:ea typeface="+mj-ea"/>
          <a:cs typeface="Rajdhani" panose="02000000000000000000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120000"/>
        <a:buFont typeface="Wingdings" pitchFamily="2" charset="2"/>
        <a:buChar char="§"/>
        <a:defRPr sz="24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Wingdings" pitchFamily="2" charset="2"/>
        <a:buChar char="§"/>
        <a:defRPr sz="20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SzPct val="120000"/>
        <a:buFont typeface="Wingdings" pitchFamily="2" charset="2"/>
        <a:buChar char="§"/>
        <a:defRPr sz="18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4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SzPct val="120000"/>
        <a:buFont typeface="Wingdings" pitchFamily="2" charset="2"/>
        <a:buChar char="§"/>
        <a:defRPr sz="1600" b="0" i="0" kern="1200">
          <a:solidFill>
            <a:schemeClr val="tx1"/>
          </a:solidFill>
          <a:latin typeface="Rajdhani Medium" panose="02000000000000000000" pitchFamily="2" charset="77"/>
          <a:ea typeface="+mn-ea"/>
          <a:cs typeface="Rajdhani Medium" panose="02000000000000000000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posts/vvauban_java-openjdk-jdk26-activity-7424104376115449856-5cvz?utm_source=share&amp;utm_medium=member_ios&amp;rcm=ACoAAByDbnUB-3Ebvl87ykCpw3_LW_Z4CFWzPG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speakerdeck.com/mboegers/more-action-more-overview-from-4k-to-1m-thread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tiff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png"/><Relationship Id="rId7" Type="http://schemas.openxmlformats.org/officeDocument/2006/relationships/image" Target="../media/image33.svg"/><Relationship Id="rId12" Type="http://schemas.openxmlformats.org/officeDocument/2006/relationships/image" Target="../media/image3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11" Type="http://schemas.openxmlformats.org/officeDocument/2006/relationships/image" Target="../media/image36.png"/><Relationship Id="rId5" Type="http://schemas.openxmlformats.org/officeDocument/2006/relationships/image" Target="../media/image31.svg"/><Relationship Id="rId10" Type="http://schemas.openxmlformats.org/officeDocument/2006/relationships/image" Target="../media/image7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tiff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58E6E6E5-6E42-DCC4-3E7D-837C41E2008B}"/>
              </a:ext>
            </a:extLst>
          </p:cNvPr>
          <p:cNvSpPr/>
          <p:nvPr/>
        </p:nvSpPr>
        <p:spPr>
          <a:xfrm>
            <a:off x="7020420" y="-2288642"/>
            <a:ext cx="4464348" cy="446434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3ED3110-C80D-6F45-84FA-AFDE4C78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416" y="1347614"/>
            <a:ext cx="8246082" cy="2160240"/>
          </a:xfrm>
        </p:spPr>
        <p:txBody>
          <a:bodyPr/>
          <a:lstStyle/>
          <a:p>
            <a:r>
              <a:rPr lang="de-DE" sz="6000" dirty="0">
                <a:latin typeface="Rajdhani" panose="02000000000000000000" pitchFamily="2" charset="77"/>
                <a:cs typeface="Rajdhani" panose="02000000000000000000" pitchFamily="2" charset="77"/>
              </a:rPr>
              <a:t>Java 26 + 27</a:t>
            </a:r>
            <a:br>
              <a:rPr lang="de-DE" sz="6000" dirty="0">
                <a:latin typeface="Rajdhani" panose="02000000000000000000" pitchFamily="2" charset="77"/>
                <a:cs typeface="Rajdhani" panose="02000000000000000000" pitchFamily="2" charset="77"/>
              </a:rPr>
            </a:br>
            <a:r>
              <a:rPr lang="de-DE" sz="4400" dirty="0">
                <a:latin typeface="Rajdhani" panose="02000000000000000000" pitchFamily="2" charset="77"/>
                <a:cs typeface="Rajdhani" panose="02000000000000000000" pitchFamily="2" charset="77"/>
              </a:rPr>
              <a:t>Die aktuellen Neuerungen</a:t>
            </a:r>
            <a:endParaRPr lang="de-DE" sz="6000" dirty="0">
              <a:latin typeface="Rajdhani" panose="02000000000000000000" pitchFamily="2" charset="77"/>
              <a:cs typeface="Rajdhani" panose="02000000000000000000" pitchFamily="2" charset="77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50A152-8C5B-A84E-A604-3E3BB080AED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18406" y="4443958"/>
            <a:ext cx="3781586" cy="314554"/>
          </a:xfrm>
        </p:spPr>
        <p:txBody>
          <a:bodyPr anchor="b">
            <a:normAutofit lnSpcReduction="10000"/>
          </a:bodyPr>
          <a:lstStyle/>
          <a:p>
            <a:r>
              <a:rPr lang="de-DE" sz="1600" dirty="0">
                <a:latin typeface="Rajdhani" panose="02000000000000000000" pitchFamily="2" charset="77"/>
                <a:cs typeface="Rajdhani" panose="02000000000000000000" pitchFamily="2" charset="77"/>
              </a:rPr>
              <a:t>22.09.2026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B911364D-8B63-1456-8AD4-7E6D1C764638}"/>
              </a:ext>
            </a:extLst>
          </p:cNvPr>
          <p:cNvSpPr txBox="1">
            <a:spLocks/>
          </p:cNvSpPr>
          <p:nvPr/>
        </p:nvSpPr>
        <p:spPr>
          <a:xfrm>
            <a:off x="647416" y="2931790"/>
            <a:ext cx="3781586" cy="9800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None/>
              <a:defRPr sz="1800" b="0" i="0" kern="1200">
                <a:solidFill>
                  <a:schemeClr val="bg1"/>
                </a:solidFill>
                <a:latin typeface="Neo Sans Std" panose="020B0504030504040204" pitchFamily="34" charset="0"/>
                <a:ea typeface="+mn-ea"/>
                <a:cs typeface="Rajdhani Medium" panose="02000000000000000000" pitchFamily="2" charset="77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None/>
              <a:defRPr sz="2000" b="0" i="0" kern="1200">
                <a:solidFill>
                  <a:schemeClr val="tx1">
                    <a:tint val="75000"/>
                  </a:schemeClr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>
                <a:latin typeface="Rajdhani" panose="02000000000000000000" pitchFamily="2" charset="77"/>
                <a:cs typeface="Rajdhani" panose="02000000000000000000" pitchFamily="2" charset="77"/>
              </a:rPr>
              <a:t>Falk Sippach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784D63-2CB3-15E6-6B77-45AC66E0E248}"/>
              </a:ext>
            </a:extLst>
          </p:cNvPr>
          <p:cNvSpPr txBox="1"/>
          <p:nvPr/>
        </p:nvSpPr>
        <p:spPr>
          <a:xfrm>
            <a:off x="9684315" y="-224261"/>
            <a:ext cx="3275856" cy="203132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de-DE" dirty="0"/>
              <a:t>In der Form 60+ Minuten bei </a:t>
            </a:r>
            <a:r>
              <a:rPr lang="de-DE" dirty="0" err="1"/>
              <a:t>entwickler.de</a:t>
            </a:r>
            <a:r>
              <a:rPr lang="de-DE" dirty="0"/>
              <a:t> (Online)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bei Pattern Matching abkürzen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Virtual Threads abkürzen, insgesamt max. 5 – 10 min pro Thema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3C0C6-7746-B9EE-47F1-2D82359CFD16}"/>
              </a:ext>
            </a:extLst>
          </p:cNvPr>
          <p:cNvSpPr txBox="1"/>
          <p:nvPr/>
        </p:nvSpPr>
        <p:spPr>
          <a:xfrm>
            <a:off x="9542076" y="2004179"/>
            <a:ext cx="4893497" cy="313932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PRIMITIVES IN SWITCH &amp; PATTERN MATCHING</a:t>
            </a:r>
          </a:p>
          <a:p>
            <a:br>
              <a:rPr lang="en-GB" dirty="0">
                <a:hlinkClick r:id="rId3"/>
              </a:rPr>
            </a:br>
            <a:r>
              <a:rPr lang="en-GB" dirty="0">
                <a:hlinkClick r:id="rId3"/>
              </a:rPr>
              <a:t>https://www.linkedin.com/posts/vvauban_java-openjdk-jdk26-activity-7424104376115449856-5cvz?utm_source=share&amp;utm_medium=member_ios&amp;rcm=ACoAAByDbnUB-3Ebvl87ykCpw3_LW_Z4CFWzPGA</a:t>
            </a:r>
            <a:br>
              <a:rPr lang="en-GB" dirty="0"/>
            </a:br>
            <a:br>
              <a:rPr lang="en-GB" dirty="0"/>
            </a:br>
            <a:r>
              <a:rPr lang="en-GB" dirty="0"/>
              <a:t>Virtual Threads: </a:t>
            </a:r>
            <a:r>
              <a:rPr lang="en-GB" dirty="0">
                <a:hlinkClick r:id="rId4"/>
              </a:rPr>
              <a:t>https://speakerdeck.com/mboegers/more-action-more-overview-from-4k-to-1m-threads</a:t>
            </a:r>
            <a:endParaRPr lang="de-DE" dirty="0"/>
          </a:p>
        </p:txBody>
      </p:sp>
      <p:pic>
        <p:nvPicPr>
          <p:cNvPr id="7" name="Picture 2" descr="Java Forum Nord 2026">
            <a:extLst>
              <a:ext uri="{FF2B5EF4-FFF2-40B4-BE49-F238E27FC236}">
                <a16:creationId xmlns:a16="http://schemas.microsoft.com/office/drawing/2014/main" id="{26CECAA1-9238-B981-9F05-6A3FAE268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449" y="4299942"/>
            <a:ext cx="1587500" cy="50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Java Forum Nord (@JavaForumNord) • Facebook">
            <a:extLst>
              <a:ext uri="{FF2B5EF4-FFF2-40B4-BE49-F238E27FC236}">
                <a16:creationId xmlns:a16="http://schemas.microsoft.com/office/drawing/2014/main" id="{45C37A62-C37F-3D3C-4A06-7107878BB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062" y="144616"/>
            <a:ext cx="1512434" cy="1512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96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5192044-D279-8A2C-5BA8-AC5D342FD976}"/>
              </a:ext>
            </a:extLst>
          </p:cNvPr>
          <p:cNvSpPr/>
          <p:nvPr/>
        </p:nvSpPr>
        <p:spPr>
          <a:xfrm rot="10397414">
            <a:off x="4804855" y="-3461673"/>
            <a:ext cx="6630397" cy="5899674"/>
          </a:xfrm>
          <a:prstGeom prst="ellipse">
            <a:avLst/>
          </a:prstGeom>
          <a:solidFill>
            <a:srgbClr val="98D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22744-6E8E-2AEA-7CA7-722A3569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Abstract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55C4FF-F451-46AE-5983-7DD204AB96F6}"/>
              </a:ext>
            </a:extLst>
          </p:cNvPr>
          <p:cNvSpPr txBox="1">
            <a:spLocks/>
          </p:cNvSpPr>
          <p:nvPr/>
        </p:nvSpPr>
        <p:spPr>
          <a:xfrm>
            <a:off x="539552" y="1292977"/>
            <a:ext cx="8136904" cy="36468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>
                <a:latin typeface="Rajdhani" panose="02000000000000000000" pitchFamily="2" charset="77"/>
                <a:cs typeface="Rajdhani" panose="02000000000000000000" pitchFamily="2" charset="77"/>
              </a:rPr>
              <a:t>Java 26 + 27 – Die Neuerungen im Überblick</a:t>
            </a:r>
          </a:p>
          <a:p>
            <a:pPr marL="0" indent="0">
              <a:buNone/>
            </a:pPr>
            <a:r>
              <a:rPr lang="de-DE" sz="1700" dirty="0"/>
              <a:t>Mit den </a:t>
            </a:r>
            <a:r>
              <a:rPr lang="de-DE" sz="1700" dirty="0" err="1"/>
              <a:t>OpenJDKs</a:t>
            </a:r>
            <a:r>
              <a:rPr lang="de-DE" sz="1700" dirty="0"/>
              <a:t> 26 + 27 setzt die Java-Plattform ihren kontinuierlichen Evolutionspfad fort. Wie in jedem halbjährlichen Release bringen auch diese Versionen eine Mischung aus neuen Sprachfeatures, API-Erweiterungen und Verbesserungen an der JVM mit sich.</a:t>
            </a:r>
          </a:p>
          <a:p>
            <a:pPr marL="0" indent="0">
              <a:buNone/>
            </a:pPr>
            <a:r>
              <a:rPr lang="de-DE" sz="1700" dirty="0"/>
              <a:t>In diesem Vortrag werfen wir einen praxisnahen Blick auf die wichtigsten Neuerungen. Dazu gehören Weiterentwicklungen rund um das Pattern Matching und die Sprachsyntax, neue und verbesserte Bibliotheken – etwa im Umfeld von Virtual Threads und Structured Concurrency – sowie Fortschritte bei Performanceoptimierungen (weniger Speicherverbrauch, schnellere Startzeiten). Neben diesen verschiedenen JEPs, werfen wir natürlich auch einen Blick auf hilfreiche API-Verbesserungen und Änderungen an der JVM, z. B. bei den Garbage Collectoren. Die Teilnehmer bekommen in diesem Vortrag einen Überblick über die neusten Entwicklungen im Java-Umfeld. Seht heute schon, was Euch in den nächsten Jahren in der täglichen Arbeit erwarten wird!</a:t>
            </a:r>
          </a:p>
        </p:txBody>
      </p:sp>
    </p:spTree>
    <p:extLst>
      <p:ext uri="{BB962C8B-B14F-4D97-AF65-F5344CB8AC3E}">
        <p14:creationId xmlns:p14="http://schemas.microsoft.com/office/powerpoint/2010/main" val="3975744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8606883-E44F-18A3-D7AD-D64A6C32CECA}"/>
              </a:ext>
            </a:extLst>
          </p:cNvPr>
          <p:cNvSpPr/>
          <p:nvPr/>
        </p:nvSpPr>
        <p:spPr>
          <a:xfrm>
            <a:off x="6876256" y="-212270"/>
            <a:ext cx="3456384" cy="652843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A403AAF-AE51-B428-E3DD-A04D95BC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Falk Sippach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21B615C-1B60-B0D9-D9E9-3DA92F86E87B}"/>
              </a:ext>
            </a:extLst>
          </p:cNvPr>
          <p:cNvSpPr txBox="1">
            <a:spLocks/>
          </p:cNvSpPr>
          <p:nvPr/>
        </p:nvSpPr>
        <p:spPr>
          <a:xfrm>
            <a:off x="536112" y="1301676"/>
            <a:ext cx="6048672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>
                <a:effectLst/>
                <a:latin typeface="Rajdhani Medium" panose="02000000000000000000" pitchFamily="2" charset="77"/>
              </a:rPr>
              <a:t>Softwarearchitekt, Berater, Trainer bei embarc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früher bei Orientation in Objects (OIO), Trivadis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736CA49-1DBE-0C8F-E520-44BAAB6A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347" y="2129858"/>
            <a:ext cx="2335572" cy="301364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5F246D5-4930-E3C2-F382-1D3D7D527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22" y="4268624"/>
            <a:ext cx="2268264" cy="679700"/>
          </a:xfrm>
          <a:prstGeom prst="rect">
            <a:avLst/>
          </a:prstGeom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DA7B4139-7A9D-59E6-E9F6-9C0E5C9EC7BC}"/>
              </a:ext>
            </a:extLst>
          </p:cNvPr>
          <p:cNvSpPr txBox="1">
            <a:spLocks/>
          </p:cNvSpPr>
          <p:nvPr/>
        </p:nvSpPr>
        <p:spPr>
          <a:xfrm>
            <a:off x="536112" y="2463739"/>
            <a:ext cx="4562110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b="1" dirty="0">
                <a:effectLst/>
                <a:latin typeface="Rajdhani" panose="02000000000000000000" pitchFamily="2" charset="77"/>
                <a:cs typeface="Rajdhani" panose="02000000000000000000" pitchFamily="2" charset="77"/>
              </a:rPr>
              <a:t>Schwerpunkte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Architekturberatung und -bewertung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 Cloud- und Java-Technologien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94FE6C8E-319B-ABF6-2D32-180721671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884274" y="4204616"/>
            <a:ext cx="882119" cy="88211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D834B-D06A-1EF2-6AB1-17BA42A5F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919" y="464664"/>
            <a:ext cx="695325" cy="952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2" descr="jc-logo">
            <a:extLst>
              <a:ext uri="{FF2B5EF4-FFF2-40B4-BE49-F238E27FC236}">
                <a16:creationId xmlns:a16="http://schemas.microsoft.com/office/drawing/2014/main" id="{410377D9-CFE6-9C86-0064-EDF1661E1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440" y="2529458"/>
            <a:ext cx="1954560" cy="84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SAQB® - Official Website">
            <a:extLst>
              <a:ext uri="{FF2B5EF4-FFF2-40B4-BE49-F238E27FC236}">
                <a16:creationId xmlns:a16="http://schemas.microsoft.com/office/drawing/2014/main" id="{AFD59097-DA24-3A28-5A20-463053827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5" y="1480537"/>
            <a:ext cx="2493151" cy="124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2C60FD-4935-F991-19B5-CD9B487532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553" y="3284893"/>
            <a:ext cx="1390448" cy="7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798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7F2632-4581-F5C7-E1EC-8B72F5A4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Teil der Java Community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C27490-73CD-10E2-D75A-2754B8830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605" y="1335564"/>
            <a:ext cx="2615474" cy="2787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yberland">
            <a:extLst>
              <a:ext uri="{FF2B5EF4-FFF2-40B4-BE49-F238E27FC236}">
                <a16:creationId xmlns:a16="http://schemas.microsoft.com/office/drawing/2014/main" id="{4E2A9FC2-319D-4574-889E-259E9060B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7964" y="1490606"/>
            <a:ext cx="4571998" cy="2477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BFE1C9-AC0A-F6F1-0A5D-34F9DA6D2C02}"/>
              </a:ext>
            </a:extLst>
          </p:cNvPr>
          <p:cNvSpPr txBox="1"/>
          <p:nvPr/>
        </p:nvSpPr>
        <p:spPr>
          <a:xfrm>
            <a:off x="5490102" y="4081908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dirty="0"/>
              <a:t>https://</a:t>
            </a:r>
            <a:r>
              <a:rPr lang="de-DE" sz="1350" dirty="0" err="1"/>
              <a:t>cyberland.ijug.eu</a:t>
            </a:r>
            <a:r>
              <a:rPr lang="de-DE" sz="1350" dirty="0"/>
              <a:t>/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5277C-9FE6-0534-F2C8-376D8AB1B5CB}"/>
              </a:ext>
            </a:extLst>
          </p:cNvPr>
          <p:cNvSpPr txBox="1"/>
          <p:nvPr/>
        </p:nvSpPr>
        <p:spPr>
          <a:xfrm>
            <a:off x="1439652" y="4359900"/>
            <a:ext cx="457200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350" dirty="0"/>
              <a:t>https://</a:t>
            </a:r>
            <a:r>
              <a:rPr lang="de-DE" sz="1350" dirty="0" err="1"/>
              <a:t>www.jug-da.de</a:t>
            </a:r>
            <a:r>
              <a:rPr lang="de-DE" sz="1350" dirty="0"/>
              <a:t>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B6EE8F-F28F-C4D7-B816-98BE177533FB}"/>
              </a:ext>
            </a:extLst>
          </p:cNvPr>
          <p:cNvSpPr txBox="1"/>
          <p:nvPr/>
        </p:nvSpPr>
        <p:spPr>
          <a:xfrm>
            <a:off x="2951821" y="915566"/>
            <a:ext cx="139294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50" dirty="0">
                <a:solidFill>
                  <a:schemeClr val="bg1">
                    <a:lumMod val="65000"/>
                  </a:schemeClr>
                </a:solidFill>
              </a:rPr>
              <a:t>Nächster Termin </a:t>
            </a:r>
            <a:br>
              <a:rPr lang="de-DE" sz="135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de-DE" sz="1350" dirty="0">
                <a:solidFill>
                  <a:schemeClr val="bg1">
                    <a:lumMod val="65000"/>
                  </a:schemeClr>
                </a:solidFill>
              </a:rPr>
              <a:t>am 01.10.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CBF4C714-6EF7-1580-1071-798DD6DA1406}"/>
              </a:ext>
            </a:extLst>
          </p:cNvPr>
          <p:cNvSpPr/>
          <p:nvPr/>
        </p:nvSpPr>
        <p:spPr>
          <a:xfrm>
            <a:off x="2522483" y="1190383"/>
            <a:ext cx="417787" cy="252248"/>
          </a:xfrm>
          <a:custGeom>
            <a:avLst/>
            <a:gdLst>
              <a:gd name="connsiteX0" fmla="*/ 0 w 557049"/>
              <a:gd name="connsiteY0" fmla="*/ 336331 h 336331"/>
              <a:gd name="connsiteX1" fmla="*/ 189187 w 557049"/>
              <a:gd name="connsiteY1" fmla="*/ 73572 h 336331"/>
              <a:gd name="connsiteX2" fmla="*/ 557049 w 557049"/>
              <a:gd name="connsiteY2" fmla="*/ 0 h 33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049" h="336331">
                <a:moveTo>
                  <a:pt x="0" y="336331"/>
                </a:moveTo>
                <a:cubicBezTo>
                  <a:pt x="48173" y="232979"/>
                  <a:pt x="96346" y="129627"/>
                  <a:pt x="189187" y="73572"/>
                </a:cubicBezTo>
                <a:cubicBezTo>
                  <a:pt x="282028" y="17517"/>
                  <a:pt x="419538" y="8758"/>
                  <a:pt x="557049" y="0"/>
                </a:cubicBezTo>
              </a:path>
            </a:pathLst>
          </a:custGeom>
          <a:noFill/>
          <a:ln w="444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51C31B-8658-E850-EF4C-BA8CD01D3505}"/>
              </a:ext>
            </a:extLst>
          </p:cNvPr>
          <p:cNvSpPr txBox="1"/>
          <p:nvPr/>
        </p:nvSpPr>
        <p:spPr>
          <a:xfrm>
            <a:off x="6422949" y="692621"/>
            <a:ext cx="19220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50" dirty="0">
                <a:solidFill>
                  <a:schemeClr val="bg1">
                    <a:lumMod val="65000"/>
                  </a:schemeClr>
                </a:solidFill>
              </a:rPr>
              <a:t>monatliche </a:t>
            </a:r>
            <a:r>
              <a:rPr lang="de-DE" sz="1350" dirty="0" err="1">
                <a:solidFill>
                  <a:schemeClr val="bg1">
                    <a:lumMod val="65000"/>
                  </a:schemeClr>
                </a:solidFill>
              </a:rPr>
              <a:t>Opensource</a:t>
            </a:r>
            <a:r>
              <a:rPr lang="de-DE" sz="135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1350" dirty="0">
                <a:solidFill>
                  <a:schemeClr val="bg1">
                    <a:lumMod val="65000"/>
                  </a:schemeClr>
                </a:solidFill>
              </a:rPr>
              <a:t>Code Camps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1DEF238-36CF-48D0-E1C3-FB7A131EF604}"/>
              </a:ext>
            </a:extLst>
          </p:cNvPr>
          <p:cNvSpPr/>
          <p:nvPr/>
        </p:nvSpPr>
        <p:spPr>
          <a:xfrm>
            <a:off x="5646119" y="1123508"/>
            <a:ext cx="744407" cy="638246"/>
          </a:xfrm>
          <a:custGeom>
            <a:avLst/>
            <a:gdLst>
              <a:gd name="connsiteX0" fmla="*/ 0 w 557049"/>
              <a:gd name="connsiteY0" fmla="*/ 336331 h 336331"/>
              <a:gd name="connsiteX1" fmla="*/ 189187 w 557049"/>
              <a:gd name="connsiteY1" fmla="*/ 73572 h 336331"/>
              <a:gd name="connsiteX2" fmla="*/ 557049 w 557049"/>
              <a:gd name="connsiteY2" fmla="*/ 0 h 33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7049" h="336331">
                <a:moveTo>
                  <a:pt x="0" y="336331"/>
                </a:moveTo>
                <a:cubicBezTo>
                  <a:pt x="48173" y="232979"/>
                  <a:pt x="96346" y="129627"/>
                  <a:pt x="189187" y="73572"/>
                </a:cubicBezTo>
                <a:cubicBezTo>
                  <a:pt x="282028" y="17517"/>
                  <a:pt x="419538" y="8758"/>
                  <a:pt x="557049" y="0"/>
                </a:cubicBezTo>
              </a:path>
            </a:pathLst>
          </a:custGeom>
          <a:noFill/>
          <a:ln w="44450">
            <a:solidFill>
              <a:schemeClr val="bg1">
                <a:lumMod val="65000"/>
              </a:schemeClr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</p:spTree>
    <p:extLst>
      <p:ext uri="{BB962C8B-B14F-4D97-AF65-F5344CB8AC3E}">
        <p14:creationId xmlns:p14="http://schemas.microsoft.com/office/powerpoint/2010/main" val="320369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  <p:bldP spid="2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33D3897-9DC8-784D-B253-CFB142B7E2C9}"/>
              </a:ext>
            </a:extLst>
          </p:cNvPr>
          <p:cNvSpPr/>
          <p:nvPr/>
        </p:nvSpPr>
        <p:spPr>
          <a:xfrm>
            <a:off x="0" y="141481"/>
            <a:ext cx="9160058" cy="5002020"/>
          </a:xfrm>
          <a:prstGeom prst="rect">
            <a:avLst/>
          </a:prstGeom>
          <a:solidFill>
            <a:srgbClr val="92FF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B79D5CC-7168-4B45-B63C-8208F90C15EF}"/>
              </a:ext>
            </a:extLst>
          </p:cNvPr>
          <p:cNvSpPr/>
          <p:nvPr/>
        </p:nvSpPr>
        <p:spPr>
          <a:xfrm>
            <a:off x="0" y="0"/>
            <a:ext cx="9160058" cy="1253276"/>
          </a:xfrm>
          <a:prstGeom prst="rect">
            <a:avLst/>
          </a:prstGeom>
          <a:solidFill>
            <a:srgbClr val="3ED6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 dirty="0">
              <a:latin typeface="American Typewriter" panose="02090604020004020304" pitchFamily="18" charset="77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DA9BC86-4C78-C44C-976F-1DE38543B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00" y="419976"/>
            <a:ext cx="2862318" cy="570608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AD100D6-5625-F843-A2A0-45C11534B97A}"/>
              </a:ext>
            </a:extLst>
          </p:cNvPr>
          <p:cNvSpPr txBox="1"/>
          <p:nvPr/>
        </p:nvSpPr>
        <p:spPr>
          <a:xfrm>
            <a:off x="4407066" y="558719"/>
            <a:ext cx="16230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50" spc="-113" dirty="0">
                <a:latin typeface="Andale Mono" panose="020B0509000000000004" pitchFamily="49" charset="0"/>
              </a:rPr>
              <a:t>EINE KOLLABORATION VON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434CD47-B3FF-6A4A-9589-EA2683303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80793" y="421068"/>
            <a:ext cx="1350150" cy="341462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20428B67-48EE-E34F-B48F-416DAAD6BB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2180" y="495830"/>
            <a:ext cx="847725" cy="266700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1A8B0E7D-8B14-CD45-9004-906AC76C0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70411">
            <a:off x="-64956" y="3197372"/>
            <a:ext cx="1844834" cy="2031690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CCCADC3C-710D-3944-865E-F68BD4069F39}"/>
              </a:ext>
            </a:extLst>
          </p:cNvPr>
          <p:cNvSpPr txBox="1"/>
          <p:nvPr/>
        </p:nvSpPr>
        <p:spPr>
          <a:xfrm>
            <a:off x="1962780" y="4626503"/>
            <a:ext cx="406710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350" b="1" dirty="0">
                <a:latin typeface="Sofia Pro" pitchFamily="2" charset="0"/>
              </a:rPr>
              <a:t>Unser Preismodell - Flexibel und transparent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49D399C5-DBE2-1D42-A02B-FA35268AE108}"/>
              </a:ext>
            </a:extLst>
          </p:cNvPr>
          <p:cNvSpPr txBox="1"/>
          <p:nvPr/>
        </p:nvSpPr>
        <p:spPr>
          <a:xfrm rot="20915352">
            <a:off x="36452" y="3698959"/>
            <a:ext cx="16420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Sofia Pro" pitchFamily="2" charset="0"/>
              </a:rPr>
              <a:t>Ihr kommt zu zweit?</a:t>
            </a:r>
          </a:p>
          <a:p>
            <a:pPr algn="ctr"/>
            <a:r>
              <a:rPr lang="de-DE" sz="12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Sofia Pro" pitchFamily="2" charset="0"/>
              </a:rPr>
              <a:t>Sehr gut! Dein Teamkollege zahlt nur 50% des Trainingspreises</a:t>
            </a:r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968EA4B6-75F4-6746-9F7F-E44AEAEE26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20728">
            <a:off x="592384" y="4593424"/>
            <a:ext cx="740465" cy="582661"/>
          </a:xfrm>
          <a:prstGeom prst="rect">
            <a:avLst/>
          </a:prstGeom>
        </p:spPr>
      </p:pic>
      <p:pic>
        <p:nvPicPr>
          <p:cNvPr id="6146" name="Picture 2" descr="Java Duke surfing">
            <a:extLst>
              <a:ext uri="{FF2B5EF4-FFF2-40B4-BE49-F238E27FC236}">
                <a16:creationId xmlns:a16="http://schemas.microsoft.com/office/drawing/2014/main" id="{498C13AA-D88E-9D23-D3B2-2A3FA939AE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864" y="1539055"/>
            <a:ext cx="2259926" cy="152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B70DAE-D6CB-B3D7-35B6-B6A6B3128D1A}"/>
              </a:ext>
            </a:extLst>
          </p:cNvPr>
          <p:cNvSpPr txBox="1"/>
          <p:nvPr/>
        </p:nvSpPr>
        <p:spPr>
          <a:xfrm>
            <a:off x="4216433" y="1329612"/>
            <a:ext cx="4067100" cy="190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700" b="1" dirty="0"/>
              <a:t>Java Update </a:t>
            </a:r>
            <a:r>
              <a:rPr lang="de-DE" sz="2700" dirty="0"/>
              <a:t>Trainings</a:t>
            </a:r>
          </a:p>
          <a:p>
            <a:pPr>
              <a:lnSpc>
                <a:spcPct val="150000"/>
              </a:lnSpc>
            </a:pPr>
            <a:r>
              <a:rPr lang="de-DE" sz="2700" dirty="0"/>
              <a:t>9 bis 11, 17, 21+</a:t>
            </a:r>
          </a:p>
          <a:p>
            <a:pPr>
              <a:lnSpc>
                <a:spcPct val="150000"/>
              </a:lnSpc>
            </a:pPr>
            <a:r>
              <a:rPr lang="de-DE" sz="2700" dirty="0"/>
              <a:t>Sprecht mich an 💬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654540-51CE-2BAD-60F0-C6DEC322D417}"/>
              </a:ext>
            </a:extLst>
          </p:cNvPr>
          <p:cNvSpPr/>
          <p:nvPr/>
        </p:nvSpPr>
        <p:spPr>
          <a:xfrm>
            <a:off x="6786246" y="2998430"/>
            <a:ext cx="2700300" cy="248964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50"/>
          </a:p>
        </p:txBody>
      </p:sp>
      <p:sp>
        <p:nvSpPr>
          <p:cNvPr id="8" name="Textfeld 18">
            <a:extLst>
              <a:ext uri="{FF2B5EF4-FFF2-40B4-BE49-F238E27FC236}">
                <a16:creationId xmlns:a16="http://schemas.microsoft.com/office/drawing/2014/main" id="{14015041-0E59-D73E-7F9C-F8A45B29958B}"/>
              </a:ext>
            </a:extLst>
          </p:cNvPr>
          <p:cNvSpPr txBox="1"/>
          <p:nvPr/>
        </p:nvSpPr>
        <p:spPr>
          <a:xfrm rot="728327">
            <a:off x="7093556" y="3342460"/>
            <a:ext cx="19189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u="sng" dirty="0">
                <a:latin typeface="Sofia Pro" pitchFamily="2" charset="0"/>
              </a:rPr>
              <a:t>Interesse an </a:t>
            </a:r>
            <a:r>
              <a:rPr lang="de-DE" sz="2400" u="sng" dirty="0" err="1">
                <a:latin typeface="Sofia Pro" pitchFamily="2" charset="0"/>
              </a:rPr>
              <a:t>iSAQB-Weiterbil-dungen</a:t>
            </a:r>
            <a:r>
              <a:rPr lang="de-DE" sz="2400" u="sng" dirty="0">
                <a:latin typeface="Sofia Pro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9871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6D1CA-EF96-AB81-C254-A914BB075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Folien als PDF zum Download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ADDE043-49E0-2B62-2BDB-7108767FE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31590"/>
            <a:ext cx="5223309" cy="4320811"/>
          </a:xfrm>
          <a:prstGeom prst="rect">
            <a:avLst/>
          </a:prstGeom>
        </p:spPr>
      </p:pic>
      <p:sp>
        <p:nvSpPr>
          <p:cNvPr id="4" name="Text Box 4">
            <a:extLst>
              <a:ext uri="{FF2B5EF4-FFF2-40B4-BE49-F238E27FC236}">
                <a16:creationId xmlns:a16="http://schemas.microsoft.com/office/drawing/2014/main" id="{390FF0F7-5360-EE7D-9316-B04056A679E6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08104" y="4460782"/>
            <a:ext cx="3452980" cy="46384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è"/>
              <a:tabLst>
                <a:tab pos="265113" algn="l"/>
              </a:tabLst>
            </a:pPr>
            <a:r>
              <a:rPr lang="de-DE" sz="2400" noProof="1">
                <a:solidFill>
                  <a:schemeClr val="tx2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</a:t>
            </a:r>
            <a:r>
              <a:rPr lang="de-DE" sz="2400" noProof="1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embarc.de/download/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9C9B3A0-FD91-5FDA-AF76-E376F5127FF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143146" y="1742789"/>
            <a:ext cx="2182895" cy="219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4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D3B4E-D2D6-BBB9-CCCA-207C1A1F9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6D0568-967B-C95C-740B-E0E3B9D00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124" y="0"/>
            <a:ext cx="9163124" cy="515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3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051E1-84FE-1CBB-41EA-11C19FFB2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Architektur-Spicker (1 -16)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89EF462-7C04-2C11-9D7E-49209072D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888" y="3668235"/>
            <a:ext cx="2808312" cy="64633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381000">
              <a:tabLst>
                <a:tab pos="190500" algn="l"/>
              </a:tabLst>
            </a:pPr>
            <a:r>
              <a:rPr lang="de-DE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PDF, 4 Seiten</a:t>
            </a:r>
          </a:p>
          <a:p>
            <a:pPr defTabSz="381000">
              <a:tabLst>
                <a:tab pos="190500" algn="l"/>
              </a:tabLst>
            </a:pPr>
            <a:r>
              <a:rPr lang="de-DE" dirty="0">
                <a:solidFill>
                  <a:srgbClr val="000000"/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Kostenloser Download.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9B32508-CD6C-4160-F696-BF45BCBB640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81792" y="3450470"/>
            <a:ext cx="864096" cy="864096"/>
          </a:xfrm>
          <a:prstGeom prst="rect">
            <a:avLst/>
          </a:prstGeom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1ED4B80D-9CBD-8A12-AA79-73EAC4E63700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009784" y="4511293"/>
            <a:ext cx="3882696" cy="40229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algn="r" eaLnBrk="0" hangingPunct="0"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è"/>
              <a:tabLst>
                <a:tab pos="265113" algn="l"/>
              </a:tabLst>
            </a:pPr>
            <a:r>
              <a:rPr lang="de-DE" sz="2000" noProof="1">
                <a:solidFill>
                  <a:schemeClr val="bg1">
                    <a:lumMod val="50000"/>
                  </a:schemeClr>
                </a:solidFill>
                <a:latin typeface="Rajdhani Medium" panose="02000000000000000000" pitchFamily="2" charset="77"/>
                <a:cs typeface="Rajdhani Medium" panose="02000000000000000000" pitchFamily="2" charset="77"/>
              </a:rPr>
              <a:t> embarc.de/architektur-spicker/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6154FCB7-927A-13D9-C1DF-3053C90130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93" y="2284247"/>
            <a:ext cx="3240360" cy="67710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285750">
              <a:tabLst>
                <a:tab pos="142875" algn="l"/>
              </a:tabLst>
            </a:pPr>
            <a:r>
              <a:rPr lang="de-DE" sz="2000" b="1" dirty="0">
                <a:latin typeface="Rajdhani" panose="02000000000000000000" pitchFamily="2" charset="77"/>
                <a:cs typeface="Rajdhani" panose="02000000000000000000" pitchFamily="2" charset="77"/>
              </a:rPr>
              <a:t>Architektur-Spicker #1</a:t>
            </a:r>
          </a:p>
          <a:p>
            <a:pPr defTabSz="285750">
              <a:tabLst>
                <a:tab pos="142875" algn="l"/>
              </a:tabLst>
            </a:pPr>
            <a:r>
              <a:rPr lang="de-DE" dirty="0">
                <a:latin typeface="Rajdhani Medium" panose="02000000000000000000" pitchFamily="2" charset="77"/>
                <a:cs typeface="Rajdhani Medium" panose="02000000000000000000" pitchFamily="2" charset="77"/>
              </a:rPr>
              <a:t>Der Architekturüberblick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13EB2DBE-FF07-04AA-090E-273E04C12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92" y="1035400"/>
            <a:ext cx="4098720" cy="101566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285750">
              <a:tabLst>
                <a:tab pos="142875" algn="l"/>
              </a:tabLst>
            </a:pP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„Mit unseren Architektur-</a:t>
            </a:r>
            <a:r>
              <a:rPr lang="de-DE" sz="2000" dirty="0" err="1">
                <a:latin typeface="Rajdhani Medium" panose="02000000000000000000" pitchFamily="2" charset="77"/>
                <a:cs typeface="Rajdhani Medium" panose="02000000000000000000" pitchFamily="2" charset="77"/>
              </a:rPr>
              <a:t>Spickern</a:t>
            </a:r>
            <a:r>
              <a:rPr lang="de-DE" sz="2000" dirty="0">
                <a:latin typeface="Rajdhani Medium" panose="02000000000000000000" pitchFamily="2" charset="77"/>
                <a:cs typeface="Rajdhani Medium" panose="02000000000000000000" pitchFamily="2" charset="77"/>
              </a:rPr>
              <a:t> beleuchten wir die konzeptionelle Seite der Softwareentwicklung.“</a:t>
            </a:r>
          </a:p>
        </p:txBody>
      </p:sp>
      <p:sp>
        <p:nvSpPr>
          <p:cNvPr id="11" name="Dreieck 10">
            <a:extLst>
              <a:ext uri="{FF2B5EF4-FFF2-40B4-BE49-F238E27FC236}">
                <a16:creationId xmlns:a16="http://schemas.microsoft.com/office/drawing/2014/main" id="{4FED79ED-28B4-B1D7-5524-465AD474C6A4}"/>
              </a:ext>
            </a:extLst>
          </p:cNvPr>
          <p:cNvSpPr/>
          <p:nvPr/>
        </p:nvSpPr>
        <p:spPr>
          <a:xfrm rot="16200000">
            <a:off x="4579483" y="2602890"/>
            <a:ext cx="519801" cy="221078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01142-C906-9F60-9674-7E1EB492C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46" y="-37589"/>
            <a:ext cx="3956362" cy="5597778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57483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D88CA4EA-D80A-C44E-970A-A9617A9F9324}"/>
              </a:ext>
            </a:extLst>
          </p:cNvPr>
          <p:cNvSpPr/>
          <p:nvPr/>
        </p:nvSpPr>
        <p:spPr>
          <a:xfrm>
            <a:off x="0" y="-20539"/>
            <a:ext cx="4572000" cy="5193829"/>
          </a:xfrm>
          <a:prstGeom prst="rect">
            <a:avLst/>
          </a:prstGeom>
          <a:gradFill flip="none" rotWithShape="1">
            <a:gsLst>
              <a:gs pos="99000">
                <a:schemeClr val="tx1">
                  <a:lumMod val="75000"/>
                  <a:lumOff val="25000"/>
                </a:schemeClr>
              </a:gs>
              <a:gs pos="46000">
                <a:schemeClr val="tx1">
                  <a:lumMod val="65000"/>
                  <a:lumOff val="35000"/>
                </a:schemeClr>
              </a:gs>
              <a:gs pos="0">
                <a:schemeClr val="tx1">
                  <a:lumMod val="50000"/>
                  <a:lumOff val="50000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75A6C8B-B632-8343-8415-B4B6AAC8D78B}"/>
              </a:ext>
            </a:extLst>
          </p:cNvPr>
          <p:cNvSpPr/>
          <p:nvPr/>
        </p:nvSpPr>
        <p:spPr>
          <a:xfrm>
            <a:off x="4572001" y="-92546"/>
            <a:ext cx="4608512" cy="52360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DB2E9C7-494A-0340-BDFA-88E248D97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528" y="915566"/>
            <a:ext cx="3888432" cy="1090519"/>
          </a:xfrm>
        </p:spPr>
        <p:txBody>
          <a:bodyPr/>
          <a:lstStyle/>
          <a:p>
            <a:pPr algn="l"/>
            <a: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Feedback &amp;</a:t>
            </a:r>
            <a:b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</a:br>
            <a:r>
              <a:rPr lang="de-DE" sz="4800" dirty="0">
                <a:solidFill>
                  <a:schemeClr val="bg1"/>
                </a:solidFill>
                <a:ea typeface="Helvetica Neue Condensed Black" panose="02000503000000020004" pitchFamily="2" charset="0"/>
              </a:rPr>
              <a:t>Fragen?</a:t>
            </a:r>
            <a:endParaRPr lang="de-DE" sz="4000" dirty="0">
              <a:solidFill>
                <a:schemeClr val="bg1"/>
              </a:solidFill>
            </a:endParaRP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8A158F24-9509-7E4B-B9F6-93B65617B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481" y="2355726"/>
            <a:ext cx="3888432" cy="2347773"/>
          </a:xfrm>
        </p:spPr>
        <p:txBody>
          <a:bodyPr>
            <a:normAutofit/>
          </a:bodyPr>
          <a:lstStyle/>
          <a:p>
            <a:pPr algn="l"/>
            <a:r>
              <a:rPr lang="de-AT" sz="2400" dirty="0">
                <a:solidFill>
                  <a:schemeClr val="bg1"/>
                </a:solidFill>
              </a:rPr>
              <a:t>Ich freue mich auf Fragen, </a:t>
            </a:r>
          </a:p>
          <a:p>
            <a:pPr algn="l"/>
            <a:r>
              <a:rPr lang="de-AT" sz="2400" dirty="0">
                <a:solidFill>
                  <a:schemeClr val="bg1"/>
                </a:solidFill>
              </a:rPr>
              <a:t>Diskussionen, Anregungen!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8DD151-6E68-6E4C-9058-EDFDB2A2D0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716" y="-447387"/>
            <a:ext cx="3816424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51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12FC1FA-9365-52B7-84D4-CF185D17EE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391" y="4310281"/>
            <a:ext cx="2268264" cy="6797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DD91D1B-1D80-5E42-87DB-EB3894EACDB6}"/>
              </a:ext>
            </a:extLst>
          </p:cNvPr>
          <p:cNvSpPr/>
          <p:nvPr/>
        </p:nvSpPr>
        <p:spPr>
          <a:xfrm>
            <a:off x="4932040" y="1815926"/>
            <a:ext cx="4680000" cy="4680000"/>
          </a:xfrm>
          <a:prstGeom prst="ellipse">
            <a:avLst/>
          </a:prstGeom>
          <a:solidFill>
            <a:srgbClr val="98D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EF1A86F5-A334-7647-B265-146C28D0E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Dank.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90FD432B-6C11-424D-AA15-A1951CC64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2235938"/>
            <a:ext cx="3486993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falk.sippach@embarc.de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DCB882D3-95E3-5D4F-AFF7-D516F5A8F36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391" y="3651870"/>
            <a:ext cx="321451" cy="321451"/>
          </a:xfrm>
          <a:prstGeom prst="rect">
            <a:avLst/>
          </a:prstGeom>
        </p:spPr>
      </p:pic>
      <p:sp>
        <p:nvSpPr>
          <p:cNvPr id="20" name="Rectangle 8">
            <a:extLst>
              <a:ext uri="{FF2B5EF4-FFF2-40B4-BE49-F238E27FC236}">
                <a16:creationId xmlns:a16="http://schemas.microsoft.com/office/drawing/2014/main" id="{D82A5E4E-DC60-4845-9D18-FE32BA5CF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3159094"/>
            <a:ext cx="3152814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@sippsack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91409788-9C63-974B-AB1B-EC899C189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4652" y="3620671"/>
            <a:ext cx="3591222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@sippsack@ijug.social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D86F3268-DDA2-C344-8B5B-7AE0DF4C6EA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344" y="2238636"/>
            <a:ext cx="321452" cy="321452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87AD71AE-AC9F-6B49-9B8E-391E0207B188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959" y="2709715"/>
            <a:ext cx="321451" cy="321451"/>
          </a:xfrm>
          <a:prstGeom prst="rect">
            <a:avLst/>
          </a:prstGeom>
        </p:spPr>
      </p:pic>
      <p:sp>
        <p:nvSpPr>
          <p:cNvPr id="26" name="Rectangle 8">
            <a:extLst>
              <a:ext uri="{FF2B5EF4-FFF2-40B4-BE49-F238E27FC236}">
                <a16:creationId xmlns:a16="http://schemas.microsoft.com/office/drawing/2014/main" id="{A843507E-53DF-274C-A027-33A9F5913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826" y="2697516"/>
            <a:ext cx="3486993" cy="44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ts val="800"/>
              </a:spcBef>
              <a:defRPr/>
            </a:pPr>
            <a:r>
              <a:rPr lang="de-DE" kern="0" noProof="1">
                <a:latin typeface="Rajdhani Medium" panose="02000000000000000000" pitchFamily="2" charset="77"/>
                <a:cs typeface="Rajdhani Medium" panose="02000000000000000000" pitchFamily="2" charset="77"/>
              </a:rPr>
              <a:t>linkedin.com/in/falk-sippach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DDA3CE-9C59-41C5-2FFC-A23383D195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80491" y="967036"/>
            <a:ext cx="3236759" cy="41764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FD4A000-29B8-894B-63E8-6D3DB7FC1110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959" y="3180793"/>
            <a:ext cx="321451" cy="321451"/>
          </a:xfrm>
          <a:prstGeom prst="rect">
            <a:avLst/>
          </a:prstGeom>
        </p:spPr>
      </p:pic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2F8C76E4-676F-8B3A-4C14-4D03BF63E435}"/>
              </a:ext>
            </a:extLst>
          </p:cNvPr>
          <p:cNvSpPr txBox="1">
            <a:spLocks/>
          </p:cNvSpPr>
          <p:nvPr/>
        </p:nvSpPr>
        <p:spPr>
          <a:xfrm>
            <a:off x="563864" y="1217603"/>
            <a:ext cx="439248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b="1" dirty="0">
                <a:solidFill>
                  <a:schemeClr val="accent1"/>
                </a:solidFill>
                <a:effectLst/>
                <a:latin typeface="Rajdhani Medium" panose="02000000000000000000" pitchFamily="2" charset="77"/>
              </a:rPr>
              <a:t>Ich freue mich auf Eure Fragen!</a:t>
            </a:r>
            <a:endParaRPr lang="de-DE" sz="20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03626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88606883-E44F-18A3-D7AD-D64A6C32CECA}"/>
              </a:ext>
            </a:extLst>
          </p:cNvPr>
          <p:cNvSpPr/>
          <p:nvPr/>
        </p:nvSpPr>
        <p:spPr>
          <a:xfrm>
            <a:off x="6876256" y="-212270"/>
            <a:ext cx="3456384" cy="652843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A403AAF-AE51-B428-E3DD-A04D95BC2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Falk Sippach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F21B615C-1B60-B0D9-D9E9-3DA92F86E87B}"/>
              </a:ext>
            </a:extLst>
          </p:cNvPr>
          <p:cNvSpPr txBox="1">
            <a:spLocks/>
          </p:cNvSpPr>
          <p:nvPr/>
        </p:nvSpPr>
        <p:spPr>
          <a:xfrm>
            <a:off x="536112" y="1301676"/>
            <a:ext cx="6048672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000" dirty="0">
                <a:effectLst/>
                <a:latin typeface="Rajdhani Medium" panose="02000000000000000000" pitchFamily="2" charset="77"/>
              </a:rPr>
              <a:t>Softwarearchitekt, Berater, Trainer bei embarc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früher bei Orientation in Objects (OIO), Trivadis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736CA49-1DBE-0C8F-E520-44BAAB6AF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52347" y="2129858"/>
            <a:ext cx="2335572" cy="301364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05F246D5-4930-E3C2-F382-1D3D7D527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222" y="4268624"/>
            <a:ext cx="2268264" cy="679700"/>
          </a:xfrm>
          <a:prstGeom prst="rect">
            <a:avLst/>
          </a:prstGeom>
        </p:spPr>
      </p:pic>
      <p:sp>
        <p:nvSpPr>
          <p:cNvPr id="21" name="Inhaltsplatzhalter 2">
            <a:extLst>
              <a:ext uri="{FF2B5EF4-FFF2-40B4-BE49-F238E27FC236}">
                <a16:creationId xmlns:a16="http://schemas.microsoft.com/office/drawing/2014/main" id="{DA7B4139-7A9D-59E6-E9F6-9C0E5C9EC7BC}"/>
              </a:ext>
            </a:extLst>
          </p:cNvPr>
          <p:cNvSpPr txBox="1">
            <a:spLocks/>
          </p:cNvSpPr>
          <p:nvPr/>
        </p:nvSpPr>
        <p:spPr>
          <a:xfrm>
            <a:off x="536112" y="2463739"/>
            <a:ext cx="4562110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12738" indent="-312738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120000"/>
              <a:buFont typeface="Wingdings" pitchFamily="2" charset="2"/>
              <a:buChar char="§"/>
              <a:tabLst/>
              <a:defRPr sz="24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1pPr>
            <a:lvl2pPr marL="763588" indent="-306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SzPct val="120000"/>
              <a:buFont typeface="Wingdings" pitchFamily="2" charset="2"/>
              <a:buChar char="§"/>
              <a:tabLst/>
              <a:defRPr sz="20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SzPct val="120000"/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4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SzPct val="120000"/>
              <a:buFont typeface="Wingdings" pitchFamily="2" charset="2"/>
              <a:buChar char="§"/>
              <a:defRPr sz="1600" b="0" i="0" kern="1200">
                <a:solidFill>
                  <a:schemeClr val="tx1"/>
                </a:solidFill>
                <a:latin typeface="Rajdhani Medium" panose="02000000000000000000" pitchFamily="2" charset="77"/>
                <a:ea typeface="+mn-ea"/>
                <a:cs typeface="Rajdhani Medium" panose="02000000000000000000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000" b="1" dirty="0">
                <a:effectLst/>
                <a:latin typeface="Rajdhani" panose="02000000000000000000" pitchFamily="2" charset="77"/>
                <a:cs typeface="Rajdhani" panose="02000000000000000000" pitchFamily="2" charset="77"/>
              </a:rPr>
              <a:t>Schwerpunkte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Architekturberatung und -bewertung</a:t>
            </a:r>
          </a:p>
          <a:p>
            <a:r>
              <a:rPr lang="de-DE" sz="2000" dirty="0">
                <a:effectLst/>
                <a:latin typeface="Rajdhani Medium" panose="02000000000000000000" pitchFamily="2" charset="77"/>
              </a:rPr>
              <a:t> Cloud- und Java-Technologien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94FE6C8E-319B-ABF6-2D32-180721671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7884274" y="4204616"/>
            <a:ext cx="882119" cy="882119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CD834B-D06A-1EF2-6AB1-17BA42A5FF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7919" y="464664"/>
            <a:ext cx="695325" cy="952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2" descr="jc-logo">
            <a:extLst>
              <a:ext uri="{FF2B5EF4-FFF2-40B4-BE49-F238E27FC236}">
                <a16:creationId xmlns:a16="http://schemas.microsoft.com/office/drawing/2014/main" id="{410377D9-CFE6-9C86-0064-EDF1661E1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9440" y="2529458"/>
            <a:ext cx="1954560" cy="84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SAQB® - Official Website">
            <a:extLst>
              <a:ext uri="{FF2B5EF4-FFF2-40B4-BE49-F238E27FC236}">
                <a16:creationId xmlns:a16="http://schemas.microsoft.com/office/drawing/2014/main" id="{AFD59097-DA24-3A28-5A20-463053827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5" y="1480537"/>
            <a:ext cx="2493151" cy="1246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2C60FD-4935-F991-19B5-CD9B487532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3553" y="3284893"/>
            <a:ext cx="1390448" cy="74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74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544&quot;&gt;&lt;property id=&quot;20148&quot; value=&quot;5&quot;/&gt;&lt;property id=&quot;20300&quot; value=&quot;Folie 3 - &amp;quot;Stefan Zörner&amp;quot;&quot;/&gt;&lt;property id=&quot;20307&quot; value=&quot;300&quot;/&gt;&lt;/object&gt;&lt;object type=&quot;3&quot; unique_id=&quot;10545&quot;&gt;&lt;property id=&quot;20148&quot; value=&quot;5&quot;/&gt;&lt;property id=&quot;20300&quot; value=&quot;Folie 6&quot;/&gt;&lt;property id=&quot;20307&quot; value=&quot;301&quot;/&gt;&lt;/object&gt;&lt;object type=&quot;3&quot; unique_id=&quot;10798&quot;&gt;&lt;property id=&quot;20148&quot; value=&quot;5&quot;/&gt;&lt;property id=&quot;20300&quot; value=&quot;Folie 7&quot;/&gt;&lt;property id=&quot;20307&quot; value=&quot;302&quot;/&gt;&lt;/object&gt;&lt;object type=&quot;3&quot; unique_id=&quot;10799&quot;&gt;&lt;property id=&quot;20148&quot; value=&quot;5&quot;/&gt;&lt;property id=&quot;20300&quot; value=&quot;Folie 8&quot;/&gt;&lt;property id=&quot;20307&quot; value=&quot;303&quot;/&gt;&lt;/object&gt;&lt;object type=&quot;3&quot; unique_id=&quot;11023&quot;&gt;&lt;property id=&quot;20148&quot; value=&quot;5&quot;/&gt;&lt;property id=&quot;20300&quot; value=&quot;Folie 9 - &amp;quot;Aufgabe (Teil 1)&amp;quot;&quot;/&gt;&lt;property id=&quot;20307&quot; value=&quot;305&quot;/&gt;&lt;/object&gt;&lt;object type=&quot;3&quot; unique_id=&quot;11141&quot;&gt;&lt;property id=&quot;20148&quot; value=&quot;5&quot;/&gt;&lt;property id=&quot;20300&quot; value=&quot;Folie 10 - &amp;quot;Aufgabe (Teil 2)&amp;quot;&quot;/&gt;&lt;property id=&quot;20307&quot; value=&quot;306&quot;/&gt;&lt;/object&gt;&lt;object type=&quot;3&quot; unique_id=&quot;11340&quot;&gt;&lt;property id=&quot;20148&quot; value=&quot;5&quot;/&gt;&lt;property id=&quot;20300&quot; value=&quot;Folie 2 - &amp;quot;Verunfallte Softwarearchitektur?&amp;quot;&quot;/&gt;&lt;property id=&quot;20307&quot; value=&quot;307&quot;/&gt;&lt;/object&gt;&lt;object type=&quot;3&quot; unique_id=&quot;11381&quot;&gt;&lt;property id=&quot;20148&quot; value=&quot;5&quot;/&gt;&lt;property id=&quot;20300&quot; value=&quot;Folie 11 - &amp;quot;Malariamücke vs. Schwertwal?&amp;quot;&quot;/&gt;&lt;property id=&quot;20307&quot; value=&quot;308&quot;/&gt;&lt;/object&gt;&lt;object type=&quot;3&quot; unique_id=&quot;12270&quot;&gt;&lt;property id=&quot;20148&quot; value=&quot;5&quot;/&gt;&lt;property id=&quot;20300&quot; value=&quot;Folie 14 - &amp;quot;Was ist Softwarearchitektur?&amp;quot;&quot;/&gt;&lt;property id=&quot;20307&quot; value=&quot;320&quot;/&gt;&lt;/object&gt;&lt;object type=&quot;3&quot; unique_id=&quot;12271&quot;&gt;&lt;property id=&quot;20148&quot; value=&quot;5&quot;/&gt;&lt;property id=&quot;20300&quot; value=&quot;Folie 18 - &amp;quot;Was ist gute Softwarearchitektur?&amp;quot;&quot;/&gt;&lt;property id=&quot;20307&quot; value=&quot;321&quot;/&gt;&lt;/object&gt;&lt;object type=&quot;3&quot; unique_id=&quot;12272&quot;&gt;&lt;property id=&quot;20148&quot; value=&quot;5&quot;/&gt;&lt;property id=&quot;20300&quot; value=&quot;Folie 17 - &amp;quot;„Verunfallte“ Softwarearchitektur?&amp;quot;&quot;/&gt;&lt;property id=&quot;20307&quot; value=&quot;322&quot;/&gt;&lt;/object&gt;&lt;object type=&quot;3&quot; unique_id=&quot;12504&quot;&gt;&lt;property id=&quot;20148&quot; value=&quot;5&quot;/&gt;&lt;property id=&quot;20300&quot; value=&quot;Folie 13&quot;/&gt;&lt;property id=&quot;20307&quot; value=&quot;323&quot;/&gt;&lt;/object&gt;&lt;object type=&quot;3&quot; unique_id=&quot;12505&quot;&gt;&lt;property id=&quot;20148&quot; value=&quot;5&quot;/&gt;&lt;property id=&quot;20300&quot; value=&quot;Folie 21&quot;/&gt;&lt;property id=&quot;20307&quot; value=&quot;324&quot;/&gt;&lt;/object&gt;&lt;object type=&quot;3&quot; unique_id=&quot;12650&quot;&gt;&lt;property id=&quot;20148&quot; value=&quot;5&quot;/&gt;&lt;property id=&quot;20300&quot; value=&quot;Folie 34&quot;/&gt;&lt;property id=&quot;20307&quot; value=&quot;326&quot;/&gt;&lt;/object&gt;&lt;object type=&quot;3&quot; unique_id=&quot;12726&quot;&gt;&lt;property id=&quot;20148&quot; value=&quot;5&quot;/&gt;&lt;property id=&quot;20300&quot; value=&quot;Folie 38 - &amp;quot;Wann eine Entscheidung treffen?&amp;quot;&quot;/&gt;&lt;property id=&quot;20307&quot; value=&quot;327&quot;/&gt;&lt;/object&gt;&lt;object type=&quot;3&quot; unique_id=&quot;12935&quot;&gt;&lt;property id=&quot;20148&quot; value=&quot;5&quot;/&gt;&lt;property id=&quot;20300&quot; value=&quot;Folie 41&quot;/&gt;&lt;property id=&quot;20307&quot; value=&quot;328&quot;/&gt;&lt;/object&gt;&lt;object type=&quot;3&quot; unique_id=&quot;12936&quot;&gt;&lt;property id=&quot;20148&quot; value=&quot;5&quot;/&gt;&lt;property id=&quot;20300&quot; value=&quot;Folie 44 - &amp;quot;Beispiel&amp;quot;&quot;/&gt;&lt;property id=&quot;20307&quot; value=&quot;329&quot;/&gt;&lt;/object&gt;&lt;object type=&quot;3&quot; unique_id=&quot;12937&quot;&gt;&lt;property id=&quot;20148&quot; value=&quot;5&quot;/&gt;&lt;property id=&quot;20300&quot; value=&quot;Folie 50&quot;/&gt;&lt;property id=&quot;20307&quot; value=&quot;330&quot;/&gt;&lt;/object&gt;&lt;object type=&quot;3&quot; unique_id=&quot;12938&quot;&gt;&lt;property id=&quot;20148&quot; value=&quot;5&quot;/&gt;&lt;property id=&quot;20300&quot; value=&quot;Folie 57 - &amp;quot;Stufen der Softwarearchitektur&amp;quot;&quot;/&gt;&lt;property id=&quot;20307&quot; value=&quot;331&quot;/&gt;&lt;/object&gt;&lt;object type=&quot;3&quot; unique_id=&quot;12939&quot;&gt;&lt;property id=&quot;20148&quot; value=&quot;5&quot;/&gt;&lt;property id=&quot;20300&quot; value=&quot;Folie 58&quot;/&gt;&lt;property id=&quot;20307&quot; value=&quot;332&quot;/&gt;&lt;/object&gt;&lt;object type=&quot;3&quot; unique_id=&quot;13734&quot;&gt;&lt;property id=&quot;20148&quot; value=&quot;5&quot;/&gt;&lt;property id=&quot;20300&quot; value=&quot;Folie 12 - &amp;quot;Äpfel mit Birnen vergleichen?&amp;quot;&quot;/&gt;&lt;property id=&quot;20307&quot; value=&quot;336&quot;/&gt;&lt;/object&gt;&lt;object type=&quot;3&quot; unique_id=&quot;13983&quot;&gt;&lt;property id=&quot;20148&quot; value=&quot;5&quot;/&gt;&lt;property id=&quot;20300&quot; value=&quot;Folie 15 - &amp;quot;Expertenmeinungen&amp;quot;&quot;/&gt;&lt;property id=&quot;20307&quot; value=&quot;337&quot;/&gt;&lt;/object&gt;&lt;object type=&quot;3&quot; unique_id=&quot;13984&quot;&gt;&lt;property id=&quot;20148&quot; value=&quot;5&quot;/&gt;&lt;property id=&quot;20300&quot; value=&quot;Folie 16 - &amp;quot;Auf den Punkt gebracht …&amp;quot;&quot;/&gt;&lt;property id=&quot;20307&quot; value=&quot;338&quot;/&gt;&lt;/object&gt;&lt;object type=&quot;3&quot; unique_id=&quot;14433&quot;&gt;&lt;property id=&quot;20148&quot; value=&quot;5&quot;/&gt;&lt;property id=&quot;20300&quot; value=&quot;Folie 19 - &amp;quot;Was ist Architekturbewertung?&amp;quot;&quot;/&gt;&lt;property id=&quot;20307&quot; value=&quot;341&quot;/&gt;&lt;/object&gt;&lt;object type=&quot;3&quot; unique_id=&quot;15082&quot;&gt;&lt;property id=&quot;20148&quot; value=&quot;5&quot;/&gt;&lt;property id=&quot;20300&quot; value=&quot;Folie 39 - &amp;quot;Lese-Tipp&amp;quot;&quot;/&gt;&lt;property id=&quot;20307&quot; value=&quot;342&quot;/&gt;&lt;/object&gt;&lt;object type=&quot;3&quot; unique_id=&quot;15719&quot;&gt;&lt;property id=&quot;20148&quot; value=&quot;5&quot;/&gt;&lt;property id=&quot;20300&quot; value=&quot;Folie 22 - &amp;quot;Beispiel: Ein Schach-Programm&amp;quot;&quot;/&gt;&lt;property id=&quot;20307&quot; value=&quot;344&quot;/&gt;&lt;/object&gt;&lt;object type=&quot;3&quot; unique_id=&quot;15720&quot;&gt;&lt;property id=&quot;20148&quot; value=&quot;5&quot;/&gt;&lt;property id=&quot;20300&quot; value=&quot;Folie 23 - &amp;quot;Konkrete Fragestellung&amp;quot;&quot;/&gt;&lt;property id=&quot;20307&quot; value=&quot;345&quot;/&gt;&lt;/object&gt;&lt;object type=&quot;3&quot; unique_id=&quot;15721&quot;&gt;&lt;property id=&quot;20148&quot; value=&quot;5&quot;/&gt;&lt;property id=&quot;20300&quot; value=&quot;Folie 24 - &amp;quot;Option 1: 2-dimensionales Array&amp;quot;&quot;/&gt;&lt;property id=&quot;20307&quot; value=&quot;346&quot;/&gt;&lt;/object&gt;&lt;object type=&quot;3&quot; unique_id=&quot;15722&quot;&gt;&lt;property id=&quot;20148&quot; value=&quot;5&quot;/&gt;&lt;property id=&quot;20300&quot; value=&quot;Folie 25 - &amp;quot;Option 2: Bitfelder &amp;quot;&quot;/&gt;&lt;property id=&quot;20307&quot; value=&quot;347&quot;/&gt;&lt;/object&gt;&lt;object type=&quot;3&quot; unique_id=&quot;16983&quot;&gt;&lt;property id=&quot;20148&quot; value=&quot;5&quot;/&gt;&lt;property id=&quot;20300&quot; value=&quot;Folie 28&quot;/&gt;&lt;property id=&quot;20307&quot; value=&quot;348&quot;/&gt;&lt;/object&gt;&lt;object type=&quot;3&quot; unique_id=&quot;16984&quot;&gt;&lt;property id=&quot;20148&quot; value=&quot;5&quot;/&gt;&lt;property id=&quot;20300&quot; value=&quot;Folie 29 - &amp;quot;Qualitätsziele&amp;quot;&quot;/&gt;&lt;property id=&quot;20307&quot; value=&quot;349&quot;/&gt;&lt;/object&gt;&lt;object type=&quot;3&quot; unique_id=&quot;18628&quot;&gt;&lt;property id=&quot;20148&quot; value=&quot;5&quot;/&gt;&lt;property id=&quot;20300&quot; value=&quot;Folie 31 - &amp;quot;Konkretisierung durch Szenarien&amp;quot;&quot;/&gt;&lt;property id=&quot;20307&quot; value=&quot;353&quot;/&gt;&lt;/object&gt;&lt;object type=&quot;3&quot; unique_id=&quot;18629&quot;&gt;&lt;property id=&quot;20148&quot; value=&quot;5&quot;/&gt;&lt;property id=&quot;20300&quot; value=&quot;Folie 33 - &amp;quot;Bezug zu Architekturbewertung&amp;quot;&quot;/&gt;&lt;property id=&quot;20307&quot; value=&quot;354&quot;/&gt;&lt;/object&gt;&lt;object type=&quot;3&quot; unique_id=&quot;18826&quot;&gt;&lt;property id=&quot;20148&quot; value=&quot;5&quot;/&gt;&lt;property id=&quot;20300&quot; value=&quot;Folie 26 - &amp;quot;Qualitätsmerkmale ausbalancieren&amp;quot;&quot;/&gt;&lt;property id=&quot;20307&quot; value=&quot;355&quot;/&gt;&lt;/object&gt;&lt;object type=&quot;3&quot; unique_id=&quot;18827&quot;&gt;&lt;property id=&quot;20148&quot; value=&quot;5&quot;/&gt;&lt;property id=&quot;20300&quot; value=&quot;Folie 27 - &amp;quot;Expertenmeinung&amp;quot;&quot;/&gt;&lt;property id=&quot;20307&quot; value=&quot;356&quot;/&gt;&lt;/object&gt;&lt;object type=&quot;3&quot; unique_id=&quot;19083&quot;&gt;&lt;property id=&quot;20148&quot; value=&quot;5&quot;/&gt;&lt;property id=&quot;20300&quot; value=&quot;Folie 62 - &amp;quot;Drei Dinge&amp;quot;&quot;/&gt;&lt;property id=&quot;20307&quot; value=&quot;357&quot;/&gt;&lt;/object&gt;&lt;object type=&quot;3&quot; unique_id=&quot;19654&quot;&gt;&lt;property id=&quot;20148&quot; value=&quot;5&quot;/&gt;&lt;property id=&quot;20300&quot; value=&quot;Folie 37 - &amp;quot;Protokolle für Schachprogramme&amp;quot;&quot;/&gt;&lt;property id=&quot;20307&quot; value=&quot;358&quot;/&gt;&lt;/object&gt;&lt;object type=&quot;3&quot; unique_id=&quot;20344&quot;&gt;&lt;property id=&quot;20148&quot; value=&quot;5&quot;/&gt;&lt;property id=&quot;20300&quot; value=&quot;Folie 52 - &amp;quot;Drei Dinge&amp;quot;&quot;/&gt;&lt;property id=&quot;20307&quot; value=&quot;361&quot;/&gt;&lt;/object&gt;&lt;object type=&quot;3&quot; unique_id=&quot;20345&quot;&gt;&lt;property id=&quot;20148&quot; value=&quot;5&quot;/&gt;&lt;property id=&quot;20300&quot; value=&quot;Folie 53 - &amp;quot;Stufen der Softwarearchitektur&amp;quot;&quot;/&gt;&lt;property id=&quot;20307&quot; value=&quot;362&quot;/&gt;&lt;/object&gt;&lt;object type=&quot;3&quot; unique_id=&quot;20626&quot;&gt;&lt;property id=&quot;20148&quot; value=&quot;5&quot;/&gt;&lt;property id=&quot;20300&quot; value=&quot;Folie 54 - &amp;quot;Kommunikation&amp;quot;&quot;/&gt;&lt;property id=&quot;20307&quot; value=&quot;363&quot;/&gt;&lt;/object&gt;&lt;object type=&quot;3&quot; unique_id=&quot;20627&quot;&gt;&lt;property id=&quot;20148&quot; value=&quot;5&quot;/&gt;&lt;property id=&quot;20300&quot; value=&quot;Folie 55 - &amp;quot;Struktur&amp;quot;&quot;/&gt;&lt;property id=&quot;20307&quot; value=&quot;364&quot;/&gt;&lt;/object&gt;&lt;object type=&quot;3&quot; unique_id=&quot;20628&quot;&gt;&lt;property id=&quot;20148&quot; value=&quot;5&quot;/&gt;&lt;property id=&quot;20300&quot; value=&quot;Folie 56 - &amp;quot;Übergreifende Konzepte&amp;quot;&quot;/&gt;&lt;property id=&quot;20307&quot; value=&quot;365&quot;/&gt;&lt;/object&gt;&lt;object type=&quot;3&quot; unique_id=&quot;21455&quot;&gt;&lt;property id=&quot;20148&quot; value=&quot;5&quot;/&gt;&lt;property id=&quot;20300&quot; value=&quot;Folie 60 - &amp;quot;Äpfel mit Birnen vergleichen?&amp;quot;&quot;/&gt;&lt;property id=&quot;20307&quot; value=&quot;366&quot;/&gt;&lt;/object&gt;&lt;object type=&quot;3&quot; unique_id=&quot;21456&quot;&gt;&lt;property id=&quot;20148&quot; value=&quot;5&quot;/&gt;&lt;property id=&quot;20300&quot; value=&quot;Folie 61 - &amp;quot;Fazit&amp;quot;&quot;/&gt;&lt;property id=&quot;20307&quot; value=&quot;367&quot;/&gt;&lt;/object&gt;&lt;object type=&quot;3&quot; unique_id=&quot;21762&quot;&gt;&lt;property id=&quot;20148&quot; value=&quot;5&quot;/&gt;&lt;property id=&quot;20300&quot; value=&quot;Folie 63 - &amp;quot;„The Accidental Architecture“&amp;quot;&quot;/&gt;&lt;property id=&quot;20307&quot; value=&quot;368&quot;/&gt;&lt;/object&gt;&lt;object type=&quot;3&quot; unique_id=&quot;21949&quot;&gt;&lt;property id=&quot;20148&quot; value=&quot;5&quot;/&gt;&lt;property id=&quot;20300&quot; value=&quot;Folie 64 - &amp;quot;Softwarearchitekturen dokumentieren und kommunizieren&amp;quot;&quot;/&gt;&lt;property id=&quot;20307&quot; value=&quot;369&quot;/&gt;&lt;/object&gt;&lt;object type=&quot;3&quot; unique_id=&quot;22957&quot;&gt;&lt;property id=&quot;20148&quot; value=&quot;5&quot;/&gt;&lt;property id=&quot;20300&quot; value=&quot;Folie 49 - &amp;quot;Expertenmeinungen&amp;quot;&quot;/&gt;&lt;property id=&quot;20307&quot; value=&quot;371&quot;/&gt;&lt;/object&gt;&lt;object type=&quot;3&quot; unique_id=&quot;23788&quot;&gt;&lt;property id=&quot;20148&quot; value=&quot;5&quot;/&gt;&lt;property id=&quot;20300&quot; value=&quot;Folie 59 - &amp;quot;Äpfel mit Birnen vergleichen?&amp;quot;&quot;/&gt;&lt;property id=&quot;20307&quot; value=&quot;372&quot;/&gt;&lt;/object&gt;&lt;object type=&quot;3&quot; unique_id=&quot;24295&quot;&gt;&lt;property id=&quot;20148&quot; value=&quot;5&quot;/&gt;&lt;property id=&quot;20300&quot; value=&quot;Folie 65&quot;/&gt;&lt;property id=&quot;20307&quot; value=&quot;373&quot;/&gt;&lt;/object&gt;&lt;object type=&quot;3&quot; unique_id=&quot;24560&quot;&gt;&lt;property id=&quot;20148&quot; value=&quot;5&quot;/&gt;&lt;property id=&quot;20300&quot; value=&quot;Folie 66 - &amp;quot;Blog-Serie bei Hanser Update&amp;quot;&quot;/&gt;&lt;property id=&quot;20307&quot; value=&quot;376&quot;/&gt;&lt;/object&gt;&lt;object type=&quot;3&quot; unique_id=&quot;25223&quot;&gt;&lt;property id=&quot;20148&quot; value=&quot;5&quot;/&gt;&lt;property id=&quot;20300&quot; value=&quot;Folie 30 - &amp;quot;Beispiel: Qualitätsziele DokChess&amp;quot;&quot;/&gt;&lt;property id=&quot;20307&quot; value=&quot;378&quot;/&gt;&lt;/object&gt;&lt;object type=&quot;3&quot; unique_id=&quot;27089&quot;&gt;&lt;property id=&quot;20148&quot; value=&quot;5&quot;/&gt;&lt;property id=&quot;20300&quot; value=&quot;Folie 36 - &amp;quot;Systemkontext&amp;quot;&quot;/&gt;&lt;property id=&quot;20307&quot; value=&quot;381&quot;/&gt;&lt;/object&gt;&lt;object type=&quot;3&quot; unique_id=&quot;28520&quot;&gt;&lt;property id=&quot;20148&quot; value=&quot;5&quot;/&gt;&lt;property id=&quot;20300&quot; value=&quot;Folie 43 - &amp;quot;Was ist Umsetzungsüberprüfung?&amp;quot;&quot;/&gt;&lt;property id=&quot;20307&quot; value=&quot;382&quot;/&gt;&lt;/object&gt;&lt;object type=&quot;3&quot; unique_id=&quot;28881&quot;&gt;&lt;property id=&quot;20148&quot; value=&quot;5&quot;/&gt;&lt;property id=&quot;20300&quot; value=&quot;Folie 46 - &amp;quot;Beispieltool: Sonargraph&amp;quot;&quot;/&gt;&lt;property id=&quot;20307&quot; value=&quot;383&quot;/&gt;&lt;/object&gt;&lt;object type=&quot;3&quot; unique_id=&quot;29174&quot;&gt;&lt;property id=&quot;20148&quot; value=&quot;5&quot;/&gt;&lt;property id=&quot;20300&quot; value=&quot;Folie 47 - &amp;quot;Logische Architektur definieren&amp;quot;&quot;/&gt;&lt;property id=&quot;20307&quot; value=&quot;384&quot;/&gt;&lt;/object&gt;&lt;object type=&quot;3&quot; unique_id=&quot;29175&quot;&gt;&lt;property id=&quot;20148&quot; value=&quot;5&quot;/&gt;&lt;property id=&quot;20300&quot; value=&quot;Folie 48 - &amp;quot;„Verstöße“ aufdecken&amp;quot;&quot;/&gt;&lt;property id=&quot;20307&quot; value=&quot;385&quot;/&gt;&lt;/object&gt;&lt;object type=&quot;3&quot; unique_id=&quot;29401&quot;&gt;&lt;property id=&quot;20148&quot; value=&quot;5&quot;/&gt;&lt;property id=&quot;20300&quot; value=&quot;Folie 45 - &amp;quot;Spannende Fragen …&amp;quot;&quot;/&gt;&lt;property id=&quot;20307&quot; value=&quot;386&quot;/&gt;&lt;/object&gt;&lt;object type=&quot;3&quot; unique_id=&quot;30086&quot;&gt;&lt;property id=&quot;20148&quot; value=&quot;5&quot;/&gt;&lt;property id=&quot;20300&quot; value=&quot;Folie 5&quot;/&gt;&lt;property id=&quot;20307&quot; value=&quot;387&quot;/&gt;&lt;/object&gt;&lt;object type=&quot;3&quot; unique_id=&quot;30620&quot;&gt;&lt;property id=&quot;20148&quot; value=&quot;5&quot;/&gt;&lt;property id=&quot;20300&quot; value=&quot;Folie 4&quot;/&gt;&lt;property id=&quot;20307&quot; value=&quot;388&quot;/&gt;&lt;/object&gt;&lt;object type=&quot;3&quot; unique_id=&quot;32589&quot;&gt;&lt;property id=&quot;20148&quot; value=&quot;5&quot;/&gt;&lt;property id=&quot;20300&quot; value=&quot;Folie 40 - &amp;quot;Entscheidungen festhalten&amp;quot;&quot;/&gt;&lt;property id=&quot;20307&quot; value=&quot;389&quot;/&gt;&lt;/object&gt;&lt;object type=&quot;3&quot; unique_id=&quot;32894&quot;&gt;&lt;property id=&quot;20148&quot; value=&quot;5&quot;/&gt;&lt;property id=&quot;20300&quot; value=&quot;Folie 42 - &amp;quot;Was ist Architekturbewertung?&amp;quot;&quot;/&gt;&lt;property id=&quot;20307&quot; value=&quot;390&quot;/&gt;&lt;/object&gt;&lt;object type=&quot;3&quot; unique_id=&quot;33280&quot;&gt;&lt;property id=&quot;20148&quot; value=&quot;5&quot;/&gt;&lt;property id=&quot;20300&quot; value=&quot;Folie 1&quot;/&gt;&lt;property id=&quot;20307&quot; value=&quot;391&quot;/&gt;&lt;/object&gt;&lt;object type=&quot;3&quot; unique_id=&quot;33583&quot;&gt;&lt;property id=&quot;20148&quot; value=&quot;5&quot;/&gt;&lt;property id=&quot;20300&quot; value=&quot;Folie 67&quot;/&gt;&lt;property id=&quot;20307&quot; value=&quot;392&quot;/&gt;&lt;/object&gt;&lt;object type=&quot;3&quot; unique_id=&quot;34355&quot;&gt;&lt;property id=&quot;20148&quot; value=&quot;5&quot;/&gt;&lt;property id=&quot;20300&quot; value=&quot;Folie 51&quot;/&gt;&lt;property id=&quot;20307&quot; value=&quot;393&quot;/&gt;&lt;/object&gt;&lt;object type=&quot;3&quot; unique_id=&quot;34492&quot;&gt;&lt;property id=&quot;20148&quot; value=&quot;5&quot;/&gt;&lt;property id=&quot;20300&quot; value=&quot;Folie 20 - &amp;quot;Was ist Architekturbewertung?&amp;quot;&quot;/&gt;&lt;property id=&quot;20307&quot; value=&quot;394&quot;/&gt;&lt;/object&gt;&lt;object type=&quot;3&quot; unique_id=&quot;34769&quot;&gt;&lt;property id=&quot;20148&quot; value=&quot;5&quot;/&gt;&lt;property id=&quot;20300&quot; value=&quot;Folie 32 - &amp;quot;Konkretisierung durch Szenarien&amp;quot;&quot;/&gt;&lt;property id=&quot;20307&quot; value=&quot;395&quot;/&gt;&lt;/object&gt;&lt;object type=&quot;3&quot; unique_id=&quot;35322&quot;&gt;&lt;property id=&quot;20148&quot; value=&quot;5&quot;/&gt;&lt;property id=&quot;20300&quot; value=&quot;Folie 35 - &amp;quot;Beispiel: Ein Schach-Programm&amp;quot;&quot;/&gt;&lt;property id=&quot;20307&quot; value=&quot;396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Benutzerdefiniertes Design">
  <a:themeElements>
    <a:clrScheme name="embarc 2023">
      <a:dk1>
        <a:srgbClr val="000000"/>
      </a:dk1>
      <a:lt1>
        <a:srgbClr val="FFFFFF"/>
      </a:lt1>
      <a:dk2>
        <a:srgbClr val="E17A7C"/>
      </a:dk2>
      <a:lt2>
        <a:srgbClr val="83CBF0"/>
      </a:lt2>
      <a:accent1>
        <a:srgbClr val="EB3C44"/>
      </a:accent1>
      <a:accent2>
        <a:srgbClr val="46AFE2"/>
      </a:accent2>
      <a:accent3>
        <a:srgbClr val="F7DD49"/>
      </a:accent3>
      <a:accent4>
        <a:srgbClr val="B6D8D5"/>
      </a:accent4>
      <a:accent5>
        <a:srgbClr val="EDAFAD"/>
      </a:accent5>
      <a:accent6>
        <a:srgbClr val="F8EAAE"/>
      </a:accent6>
      <a:hlink>
        <a:srgbClr val="5C5F98"/>
      </a:hlink>
      <a:folHlink>
        <a:srgbClr val="969696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60379</TotalTime>
  <Words>513</Words>
  <Application>Microsoft Macintosh PowerPoint</Application>
  <PresentationFormat>On-screen Show (16:9)</PresentationFormat>
  <Paragraphs>64</Paragraphs>
  <Slides>11</Slides>
  <Notes>6</Notes>
  <HiddenSlides>2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7" baseType="lpstr">
      <vt:lpstr>American Typewriter</vt:lpstr>
      <vt:lpstr>Andale Mono</vt:lpstr>
      <vt:lpstr>Arial</vt:lpstr>
      <vt:lpstr>Calibri</vt:lpstr>
      <vt:lpstr>Corbel</vt:lpstr>
      <vt:lpstr>Courier New</vt:lpstr>
      <vt:lpstr>Fira Sans Light</vt:lpstr>
      <vt:lpstr>Fira Sans Medium</vt:lpstr>
      <vt:lpstr>Helvetica Neue Condensed Black</vt:lpstr>
      <vt:lpstr>Neo Sans Std</vt:lpstr>
      <vt:lpstr>Rajdhani</vt:lpstr>
      <vt:lpstr>Rajdhani Medium</vt:lpstr>
      <vt:lpstr>Rajdhani SemiBold</vt:lpstr>
      <vt:lpstr>Sofia Pro</vt:lpstr>
      <vt:lpstr>Wingdings</vt:lpstr>
      <vt:lpstr>Benutzerdefiniertes Design</vt:lpstr>
      <vt:lpstr>Java 26 + 27 Die aktuellen Neuerungen</vt:lpstr>
      <vt:lpstr>Abstract</vt:lpstr>
      <vt:lpstr>Falk Sippach</vt:lpstr>
      <vt:lpstr>Teil der Java Community</vt:lpstr>
      <vt:lpstr>PowerPoint Presentation</vt:lpstr>
      <vt:lpstr>Folien als PDF zum Download</vt:lpstr>
      <vt:lpstr>PowerPoint Presentation</vt:lpstr>
      <vt:lpstr>Architektur-Spicker (1 -16)</vt:lpstr>
      <vt:lpstr>Feedback &amp; Fragen?</vt:lpstr>
      <vt:lpstr>Vielen Dank.</vt:lpstr>
      <vt:lpstr>Falk Sippach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Toth</dc:creator>
  <cp:lastModifiedBy>Falk Sippach</cp:lastModifiedBy>
  <cp:revision>407</cp:revision>
  <cp:lastPrinted>2026-09-22T13:10:09Z</cp:lastPrinted>
  <dcterms:created xsi:type="dcterms:W3CDTF">2023-04-26T09:40:20Z</dcterms:created>
  <dcterms:modified xsi:type="dcterms:W3CDTF">2026-10-13T07:48:13Z</dcterms:modified>
</cp:coreProperties>
</file>