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7" r:id="rId1"/>
  </p:sldMasterIdLst>
  <p:notesMasterIdLst>
    <p:notesMasterId r:id="rId4"/>
  </p:notesMasterIdLst>
  <p:handoutMasterIdLst>
    <p:handoutMasterId r:id="rId5"/>
  </p:handoutMasterIdLst>
  <p:sldIdLst>
    <p:sldId id="898" r:id="rId2"/>
    <p:sldId id="1302" r:id="rId3"/>
  </p:sldIdLst>
  <p:sldSz cx="9144000" cy="5143500" type="screen16x9"/>
  <p:notesSz cx="6797675" cy="9926638"/>
  <p:custDataLst>
    <p:tags r:id="rId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9D1"/>
    <a:srgbClr val="83D5D6"/>
    <a:srgbClr val="B6D8D5"/>
    <a:srgbClr val="83CBF0"/>
    <a:srgbClr val="EDAFAD"/>
    <a:srgbClr val="F8EAAE"/>
    <a:srgbClr val="F7DD49"/>
    <a:srgbClr val="F8D896"/>
    <a:srgbClr val="EDEDED"/>
    <a:srgbClr val="2AA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5" autoAdjust="0"/>
    <p:restoredTop sz="89072" autoAdjust="0"/>
  </p:normalViewPr>
  <p:slideViewPr>
    <p:cSldViewPr>
      <p:cViewPr varScale="1">
        <p:scale>
          <a:sx n="129" d="100"/>
          <a:sy n="129" d="100"/>
        </p:scale>
        <p:origin x="1680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0" d="100"/>
        <a:sy n="13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4160" y="76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6559E-8880-49AA-ACC9-C830E2B4942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54BED6-7E71-8D4E-AF0F-356210AC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981" y="-797321"/>
            <a:ext cx="1915967" cy="271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2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6431F-5C24-48D5-8CF7-C3892E27EBEC}" type="datetimeFigureOut">
              <a:rPr lang="de-DE" smtClean="0"/>
              <a:pPr/>
              <a:t>28.04.24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31006-95BA-49DF-B3F8-0FB49B14644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0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4897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Eine große Abbildung mit Überschrift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2971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A3A6D9E-2F42-7841-95B1-8E9601295FBE}"/>
              </a:ext>
            </a:extLst>
          </p:cNvPr>
          <p:cNvSpPr/>
          <p:nvPr userDrawn="1"/>
        </p:nvSpPr>
        <p:spPr>
          <a:xfrm>
            <a:off x="0" y="0"/>
            <a:ext cx="9252520" cy="5173290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59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6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3EB384-8F6E-4C42-8929-03958C2C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98" y="771550"/>
            <a:ext cx="7886700" cy="2160240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4AD67A-4FAF-D345-BC5D-D26B6214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98" y="3010158"/>
            <a:ext cx="7886700" cy="569704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C824156-7861-1144-A2E2-8F4D80BAD861}"/>
              </a:ext>
            </a:extLst>
          </p:cNvPr>
          <p:cNvSpPr txBox="1">
            <a:spLocks/>
          </p:cNvSpPr>
          <p:nvPr userDrawn="1"/>
        </p:nvSpPr>
        <p:spPr>
          <a:xfrm>
            <a:off x="3491880" y="2672827"/>
            <a:ext cx="5041218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accent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endParaRPr lang="de-DE" sz="3200" b="0" i="0" dirty="0">
              <a:solidFill>
                <a:schemeClr val="bg1"/>
              </a:solidFill>
              <a:latin typeface="Fira Sans Light" panose="020B0403050000020004" pitchFamily="34" charset="0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1462791-EBF0-994B-8F9A-77CCB50EDA6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46398" y="3852968"/>
            <a:ext cx="3781586" cy="980099"/>
          </a:xfrm>
        </p:spPr>
        <p:txBody>
          <a:bodyPr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7D6299B-8169-5C40-9426-0B7E481B9E5F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E6B842-0F5E-5649-BCB1-A7A8D17C9425}"/>
              </a:ext>
            </a:extLst>
          </p:cNvPr>
          <p:cNvSpPr/>
          <p:nvPr userDrawn="1"/>
        </p:nvSpPr>
        <p:spPr>
          <a:xfrm>
            <a:off x="2305252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A34FE1-55CD-BC48-BBAE-AB0585DD1E04}"/>
              </a:ext>
            </a:extLst>
          </p:cNvPr>
          <p:cNvSpPr/>
          <p:nvPr userDrawn="1"/>
        </p:nvSpPr>
        <p:spPr>
          <a:xfrm>
            <a:off x="4609252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A392AB4-C64E-7644-A582-8D2B9BB4C3DD}"/>
              </a:ext>
            </a:extLst>
          </p:cNvPr>
          <p:cNvSpPr/>
          <p:nvPr userDrawn="1"/>
        </p:nvSpPr>
        <p:spPr>
          <a:xfrm>
            <a:off x="6948519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9CFE3BA-6D77-934F-97D9-5259DC9DB7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8763" y="4360355"/>
            <a:ext cx="1535725" cy="5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3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B984F9D-DAE7-8C48-884C-8C52CE9D7B19}"/>
              </a:ext>
            </a:extLst>
          </p:cNvPr>
          <p:cNvSpPr/>
          <p:nvPr userDrawn="1"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A687E5-6844-5B44-82E1-066CCC4AF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186" y="716294"/>
            <a:ext cx="3888432" cy="1090519"/>
          </a:xfrm>
        </p:spPr>
        <p:txBody>
          <a:bodyPr anchor="b">
            <a:noAutofit/>
          </a:bodyPr>
          <a:lstStyle>
            <a:lvl1pPr algn="ctr">
              <a:defRPr sz="2800" b="1" i="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6FA032-3C0D-AD4B-A8B6-143ABE5DB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186" y="2029807"/>
            <a:ext cx="3888432" cy="2347773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Rajdhani Medium" panose="02000000000000000000" pitchFamily="2" charset="77"/>
                <a:cs typeface="Rajdhani Medium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E85CBC-2CF1-3A4D-85BB-9463517C8C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4371950"/>
            <a:ext cx="1584604" cy="58863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E3D87CE-7F31-0A4F-B6B9-BCA3383CA907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AD4D47D-B70E-4544-B632-1A525EF11847}"/>
              </a:ext>
            </a:extLst>
          </p:cNvPr>
          <p:cNvSpPr/>
          <p:nvPr userDrawn="1"/>
        </p:nvSpPr>
        <p:spPr>
          <a:xfrm>
            <a:off x="2232733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4B0863-95CF-4544-A7AF-8FF70AE14826}"/>
              </a:ext>
            </a:extLst>
          </p:cNvPr>
          <p:cNvSpPr/>
          <p:nvPr userDrawn="1"/>
        </p:nvSpPr>
        <p:spPr>
          <a:xfrm>
            <a:off x="4572000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A1D51F-4888-724B-8702-5FF352F9AD4E}"/>
              </a:ext>
            </a:extLst>
          </p:cNvPr>
          <p:cNvSpPr/>
          <p:nvPr userDrawn="1"/>
        </p:nvSpPr>
        <p:spPr>
          <a:xfrm>
            <a:off x="6876256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7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548EA-F2B1-C648-84B9-0BAF0DAE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63136"/>
            <a:ext cx="8191822" cy="71189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D96EEC-6206-A948-8758-A745E6AE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03598"/>
            <a:ext cx="8191822" cy="3428727"/>
          </a:xfrm>
        </p:spPr>
        <p:txBody>
          <a:bodyPr/>
          <a:lstStyle>
            <a:lvl1pPr marL="312738" indent="-312738">
              <a:tabLst/>
              <a:defRPr/>
            </a:lvl1pPr>
            <a:lvl2pPr marL="763588" indent="-306388">
              <a:tabLst/>
              <a:defRPr/>
            </a:lvl2pPr>
            <a:lvl3pPr marL="1200150" indent="-285750">
              <a:tabLst/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BAA9CE1-130D-A441-ABE6-C5BB89F4373C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2ACAD-E7F8-074B-BFBE-8C8D9AB7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42" y="108224"/>
            <a:ext cx="7886700" cy="80734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1026A-A9DE-4441-A5C8-DA319396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73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A92D1E-DA41-CD43-94E0-9C0C80C3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9328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58E75D-C6AA-AE4B-BD32-B28416529033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91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83BF7-2082-094D-BF7A-E86D3FF1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95486"/>
            <a:ext cx="7886700" cy="72008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CBCD8D-832D-4E45-BEE6-8AE0B827A476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3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4A4FD-B2F3-5A4B-9040-911FEB0F9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-112938" y="4666679"/>
            <a:ext cx="630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Fira Sans Medium" panose="020B0503050000020004" pitchFamily="34" charset="0"/>
              </a:defRPr>
            </a:lvl1pPr>
          </a:lstStyle>
          <a:p>
            <a:fld id="{C8B90A7D-F248-6040-B6B7-D4C3D64022C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096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1EB6C-01FE-4440-B657-ADF2F3E2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82AF0-C6F5-9D4F-B077-385AE68F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342901"/>
            <a:ext cx="4629150" cy="45267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741334-7FC7-9048-9F24-A52FA4777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B99D17D-CA11-5845-BCAF-7D2B32EF025E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8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723A-7B6B-AB48-8342-4D9F5087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A2CA-57D5-B64F-835F-CA67E510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342901"/>
            <a:ext cx="4629150" cy="4526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12C099-ECB5-164C-8D00-D72C153E0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B484D8-E641-4C47-B842-6DB40A5876F1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2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4294251">
            <a:off x="6352860" y="305732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81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2979668">
            <a:off x="6958005" y="-1360959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6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8675371">
            <a:off x="4523611" y="185343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9993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F321B48-0048-6549-8EAF-E4472677883F}"/>
              </a:ext>
            </a:extLst>
          </p:cNvPr>
          <p:cNvSpPr/>
          <p:nvPr userDrawn="1"/>
        </p:nvSpPr>
        <p:spPr>
          <a:xfrm>
            <a:off x="-4188" y="0"/>
            <a:ext cx="360000" cy="51435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7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308333-4F33-7F41-AB25-8120E9BD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224"/>
            <a:ext cx="7886700" cy="951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169D1-8573-BF44-94C9-E1E811AA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03598"/>
            <a:ext cx="7886700" cy="3428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E85FEE-68EC-E940-AF9E-F931B49ADE29}"/>
              </a:ext>
            </a:extLst>
          </p:cNvPr>
          <p:cNvSpPr txBox="1"/>
          <p:nvPr userDrawn="1"/>
        </p:nvSpPr>
        <p:spPr>
          <a:xfrm>
            <a:off x="-46540" y="480399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C8B90A7D-F248-6040-B6B7-D4C3D64022CF}" type="slidenum">
              <a:rPr lang="de-DE" sz="1400" b="1" i="0" smtClean="0">
                <a:solidFill>
                  <a:schemeClr val="bg1">
                    <a:lumMod val="85000"/>
                  </a:schemeClr>
                </a:solidFill>
                <a:latin typeface="Rajdhani SemiBold" panose="02000000000000000000" pitchFamily="2" charset="77"/>
                <a:cs typeface="Rajdhani SemiBold" panose="02000000000000000000" pitchFamily="2" charset="77"/>
              </a:rPr>
              <a:pPr algn="ctr"/>
              <a:t>‹Nr.›</a:t>
            </a:fld>
            <a:endParaRPr lang="de-DE" sz="1400" b="1" i="0" dirty="0">
              <a:solidFill>
                <a:schemeClr val="bg1">
                  <a:lumMod val="85000"/>
                </a:schemeClr>
              </a:solidFill>
              <a:latin typeface="Rajdhani SemiBold" panose="02000000000000000000" pitchFamily="2" charset="77"/>
              <a:cs typeface="Rajdhani SemiBold" panose="02000000000000000000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56611A-6D34-6140-B704-8EC4F42F8C83}"/>
              </a:ext>
            </a:extLst>
          </p:cNvPr>
          <p:cNvSpPr txBox="1"/>
          <p:nvPr userDrawn="1"/>
        </p:nvSpPr>
        <p:spPr>
          <a:xfrm rot="16200000">
            <a:off x="-1540368" y="2931174"/>
            <a:ext cx="3428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dirty="0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Tabellen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39FD338-C87D-7742-ABE3-889403754C7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0" y="147504"/>
            <a:ext cx="242704" cy="2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7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8" r:id="rId2"/>
    <p:sldLayoutId id="2147483689" r:id="rId3"/>
    <p:sldLayoutId id="2147483691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Rajdhani" panose="02000000000000000000" pitchFamily="2" charset="77"/>
          <a:ea typeface="+mj-ea"/>
          <a:cs typeface="Rajdhani" panose="02000000000000000000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20000"/>
        <a:buFont typeface="Wingdings" pitchFamily="2" charset="2"/>
        <a:buChar char="§"/>
        <a:defRPr sz="24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Wingdings" pitchFamily="2" charset="2"/>
        <a:buChar char="§"/>
        <a:defRPr sz="20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20000"/>
        <a:buFont typeface="Wingdings" pitchFamily="2" charset="2"/>
        <a:buChar char="§"/>
        <a:defRPr sz="18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913" y="222550"/>
            <a:ext cx="6380466" cy="621008"/>
          </a:xfrm>
        </p:spPr>
        <p:txBody>
          <a:bodyPr/>
          <a:lstStyle/>
          <a:p>
            <a:r>
              <a:rPr lang="de-DE" dirty="0"/>
              <a:t>Schnöde Tabelle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9562" y="1282317"/>
          <a:ext cx="7996767" cy="321088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1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958">
                <a:tc>
                  <a:txBody>
                    <a:bodyPr/>
                    <a:lstStyle/>
                    <a:p>
                      <a:r>
                        <a:rPr lang="de-DE" sz="1700" b="0" i="0" noProof="0" dirty="0">
                          <a:latin typeface="Rajdhani Medium" panose="02000000000000000000" pitchFamily="2" charset="77"/>
                          <a:cs typeface="Rajdhani Medium" panose="02000000000000000000" pitchFamily="2" charset="77"/>
                        </a:rPr>
                        <a:t>Ziel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de-DE" sz="1700" b="0" i="0" noProof="0" dirty="0">
                          <a:latin typeface="Rajdhani Medium" panose="02000000000000000000" pitchFamily="2" charset="77"/>
                          <a:cs typeface="Rajdhani Medium" panose="02000000000000000000" pitchFamily="2" charset="77"/>
                        </a:rPr>
                        <a:t>Beschreibung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99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700" b="1" i="0" noProof="0" dirty="0">
                          <a:effectLst/>
                          <a:latin typeface="Rajdhani" panose="02000000000000000000" pitchFamily="2" charset="77"/>
                          <a:cs typeface="Rajdhani" panose="02000000000000000000" pitchFamily="2" charset="77"/>
                        </a:rPr>
                        <a:t>Leicht zu betreiben</a:t>
                      </a:r>
                      <a:endParaRPr lang="de-DE" sz="1700" b="1" i="0" noProof="0" dirty="0">
                        <a:solidFill>
                          <a:srgbClr val="000000"/>
                        </a:solidFill>
                        <a:effectLst/>
                        <a:latin typeface="Rajdhani" panose="02000000000000000000" pitchFamily="2" charset="77"/>
                        <a:ea typeface="ＭＳ 明朝"/>
                        <a:cs typeface="Rajdhani" panose="02000000000000000000" pitchFamily="2" charset="77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700" b="0" i="0" noProof="0" dirty="0">
                          <a:effectLst/>
                          <a:latin typeface="Rajdhani Medium" panose="02000000000000000000" pitchFamily="2" charset="77"/>
                          <a:cs typeface="Rajdhani Medium" panose="02000000000000000000" pitchFamily="2" charset="77"/>
                        </a:rPr>
                        <a:t>Für ein Team ist es einfach mit Confluence zu starten.</a:t>
                      </a:r>
                      <a:endParaRPr lang="de-DE" sz="1700" b="0" i="0" noProof="0" dirty="0">
                        <a:solidFill>
                          <a:srgbClr val="000000"/>
                        </a:solidFill>
                        <a:effectLst/>
                        <a:latin typeface="Rajdhani Medium" panose="02000000000000000000" pitchFamily="2" charset="77"/>
                        <a:ea typeface="ＭＳ 明朝"/>
                        <a:cs typeface="Rajdhani Medium" panose="02000000000000000000" pitchFamily="2" charset="77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73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700" b="1" i="0" noProof="0" dirty="0">
                          <a:effectLst/>
                          <a:latin typeface="Rajdhani" panose="02000000000000000000" pitchFamily="2" charset="77"/>
                          <a:cs typeface="Rajdhani" panose="02000000000000000000" pitchFamily="2" charset="77"/>
                        </a:rPr>
                        <a:t>Gute Benutzbarkeit</a:t>
                      </a:r>
                      <a:endParaRPr lang="de-DE" sz="1700" b="1" i="0" noProof="0" dirty="0">
                        <a:effectLst/>
                        <a:latin typeface="Rajdhani" panose="02000000000000000000" pitchFamily="2" charset="77"/>
                        <a:ea typeface="ＭＳ 明朝"/>
                        <a:cs typeface="Rajdhani" panose="02000000000000000000" pitchFamily="2" charset="77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700" b="0" i="0" noProof="0" dirty="0">
                          <a:effectLst/>
                          <a:latin typeface="Rajdhani Medium" panose="02000000000000000000" pitchFamily="2" charset="77"/>
                          <a:cs typeface="Rajdhani Medium" panose="02000000000000000000" pitchFamily="2" charset="77"/>
                        </a:rPr>
                        <a:t>Confluence</a:t>
                      </a:r>
                      <a:r>
                        <a:rPr lang="de-DE" sz="1700" b="0" i="0" baseline="0" noProof="0" dirty="0">
                          <a:effectLst/>
                          <a:latin typeface="Rajdhani Medium" panose="02000000000000000000" pitchFamily="2" charset="77"/>
                          <a:cs typeface="Rajdhani Medium" panose="02000000000000000000" pitchFamily="2" charset="77"/>
                        </a:rPr>
                        <a:t> ist </a:t>
                      </a:r>
                      <a:r>
                        <a:rPr lang="de-DE" sz="1700" b="0" i="0" noProof="0" dirty="0">
                          <a:effectLst/>
                          <a:latin typeface="Rajdhani Medium" panose="02000000000000000000" pitchFamily="2" charset="77"/>
                          <a:cs typeface="Rajdhani Medium" panose="02000000000000000000" pitchFamily="2" charset="77"/>
                        </a:rPr>
                        <a:t>effizient und intuitiv von allen Team-Mitgliedern zu verwenden.</a:t>
                      </a:r>
                      <a:endParaRPr lang="de-DE" sz="1700" b="0" i="0" noProof="0" dirty="0">
                        <a:effectLst/>
                        <a:latin typeface="Rajdhani Medium" panose="02000000000000000000" pitchFamily="2" charset="77"/>
                        <a:ea typeface="ＭＳ 明朝"/>
                        <a:cs typeface="Rajdhani Medium" panose="02000000000000000000" pitchFamily="2" charset="77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7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700" b="1" i="0" noProof="0" dirty="0">
                          <a:effectLst/>
                          <a:latin typeface="Rajdhani" panose="02000000000000000000" pitchFamily="2" charset="77"/>
                          <a:cs typeface="Rajdhani" panose="02000000000000000000" pitchFamily="2" charset="77"/>
                        </a:rPr>
                        <a:t>Hohe Zuverlässigkeit</a:t>
                      </a:r>
                      <a:endParaRPr lang="de-DE" sz="1700" b="1" i="0" noProof="0" dirty="0">
                        <a:effectLst/>
                        <a:latin typeface="Rajdhani" panose="02000000000000000000" pitchFamily="2" charset="77"/>
                        <a:ea typeface="ＭＳ 明朝"/>
                        <a:cs typeface="Rajdhani" panose="02000000000000000000" pitchFamily="2" charset="77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700" b="0" i="0" noProof="0" dirty="0">
                          <a:effectLst/>
                          <a:latin typeface="Rajdhani Medium" panose="02000000000000000000" pitchFamily="2" charset="77"/>
                          <a:cs typeface="Rajdhani Medium" panose="02000000000000000000" pitchFamily="2" charset="77"/>
                        </a:rPr>
                        <a:t>Das System steht den Anwendern jederzeit zur Verfügung. </a:t>
                      </a:r>
                      <a:endParaRPr lang="de-DE" sz="1700" b="0" i="0" noProof="0" dirty="0">
                        <a:effectLst/>
                        <a:latin typeface="Rajdhani Medium" panose="02000000000000000000" pitchFamily="2" charset="77"/>
                        <a:ea typeface="ＭＳ 明朝"/>
                        <a:cs typeface="Rajdhani Medium" panose="02000000000000000000" pitchFamily="2" charset="77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7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700" b="1" i="0" noProof="0" dirty="0">
                          <a:effectLst/>
                          <a:latin typeface="Rajdhani" panose="02000000000000000000" pitchFamily="2" charset="77"/>
                          <a:cs typeface="Rajdhani" panose="02000000000000000000" pitchFamily="2" charset="77"/>
                        </a:rPr>
                        <a:t>Sicherheit der Inhalte</a:t>
                      </a:r>
                      <a:endParaRPr lang="de-DE" sz="1700" b="1" i="0" noProof="0" dirty="0">
                        <a:effectLst/>
                        <a:latin typeface="Rajdhani" panose="02000000000000000000" pitchFamily="2" charset="77"/>
                        <a:ea typeface="ＭＳ 明朝"/>
                        <a:cs typeface="Rajdhani" panose="02000000000000000000" pitchFamily="2" charset="77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700" b="0" i="0" noProof="0" dirty="0">
                          <a:effectLst/>
                          <a:latin typeface="Rajdhani Medium" panose="02000000000000000000" pitchFamily="2" charset="77"/>
                          <a:cs typeface="Rajdhani Medium" panose="02000000000000000000" pitchFamily="2" charset="77"/>
                        </a:rPr>
                        <a:t>Inhalte sind vor unberechtigtem Zugriff und Veränderung geschützt. </a:t>
                      </a:r>
                      <a:endParaRPr lang="de-DE" sz="1700" b="0" i="0" noProof="0" dirty="0">
                        <a:effectLst/>
                        <a:latin typeface="Rajdhani Medium" panose="02000000000000000000" pitchFamily="2" charset="77"/>
                        <a:ea typeface="ＭＳ 明朝"/>
                        <a:cs typeface="Rajdhani Medium" panose="02000000000000000000" pitchFamily="2" charset="77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7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700" b="1" i="0" noProof="0" dirty="0">
                          <a:effectLst/>
                          <a:latin typeface="Rajdhani" panose="02000000000000000000" pitchFamily="2" charset="77"/>
                          <a:cs typeface="Rajdhani" panose="02000000000000000000" pitchFamily="2" charset="77"/>
                        </a:rPr>
                        <a:t>Gute Wartbarkeit</a:t>
                      </a:r>
                      <a:endParaRPr lang="de-DE" sz="1700" b="1" i="0" noProof="0" dirty="0">
                        <a:effectLst/>
                        <a:latin typeface="Rajdhani" panose="02000000000000000000" pitchFamily="2" charset="77"/>
                        <a:ea typeface="ＭＳ 明朝"/>
                        <a:cs typeface="Rajdhani" panose="02000000000000000000" pitchFamily="2" charset="77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700" b="0" i="0" noProof="0" dirty="0">
                          <a:effectLst/>
                          <a:latin typeface="Rajdhani Medium" panose="02000000000000000000" pitchFamily="2" charset="77"/>
                          <a:cs typeface="Rajdhani Medium" panose="02000000000000000000" pitchFamily="2" charset="77"/>
                        </a:rPr>
                        <a:t>Confluence ist leicht zu ändern und um Funktionalität zu erweitern.</a:t>
                      </a:r>
                      <a:endParaRPr lang="de-DE" sz="1700" b="0" i="0" noProof="0" dirty="0">
                        <a:effectLst/>
                        <a:latin typeface="Rajdhani Medium" panose="02000000000000000000" pitchFamily="2" charset="77"/>
                        <a:ea typeface="ＭＳ 明朝"/>
                        <a:cs typeface="Rajdhani Medium" panose="02000000000000000000" pitchFamily="2" charset="77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547664" y="4647932"/>
            <a:ext cx="513057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350" i="1" dirty="0">
                <a:solidFill>
                  <a:schemeClr val="bg1">
                    <a:lumMod val="50000"/>
                  </a:schemeClr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Die Reihenfolge gibt eine Orientierung bezüglich der Wichtigkeit.</a:t>
            </a:r>
          </a:p>
        </p:txBody>
      </p:sp>
    </p:spTree>
    <p:extLst>
      <p:ext uri="{BB962C8B-B14F-4D97-AF65-F5344CB8AC3E}">
        <p14:creationId xmlns:p14="http://schemas.microsoft.com/office/powerpoint/2010/main" val="2162485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3" descr="Shape&#10;&#10;Description automatically generated with low confidence">
            <a:extLst>
              <a:ext uri="{FF2B5EF4-FFF2-40B4-BE49-F238E27FC236}">
                <a16:creationId xmlns:a16="http://schemas.microsoft.com/office/drawing/2014/main" id="{8B1ECC39-EC17-FC18-713F-10B6A3A747E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3939" y="3503845"/>
            <a:ext cx="1690061" cy="1690061"/>
          </a:xfrm>
          <a:prstGeom prst="rect">
            <a:avLst/>
          </a:prstGeom>
        </p:spPr>
      </p:pic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E83BF21A-7616-8081-F578-501752DDBCA8}"/>
              </a:ext>
            </a:extLst>
          </p:cNvPr>
          <p:cNvGraphicFramePr>
            <a:graphicFrameLocks noGrp="1"/>
          </p:cNvGraphicFramePr>
          <p:nvPr/>
        </p:nvGraphicFramePr>
        <p:xfrm>
          <a:off x="619218" y="1203598"/>
          <a:ext cx="8057238" cy="3424478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836667">
                  <a:extLst>
                    <a:ext uri="{9D8B030D-6E8A-4147-A177-3AD203B41FA5}">
                      <a16:colId xmlns:a16="http://schemas.microsoft.com/office/drawing/2014/main" val="389964292"/>
                    </a:ext>
                  </a:extLst>
                </a:gridCol>
                <a:gridCol w="1711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8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247"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 marL="68580" marR="68580" marT="34290" marB="3429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 b="0" i="0" noProof="0" dirty="0">
                          <a:latin typeface="Rajdhani Medium" panose="02000000000000000000" pitchFamily="2" charset="77"/>
                          <a:ea typeface="Roboto Cn" pitchFamily="2" charset="0"/>
                          <a:cs typeface="Rajdhani Medium" panose="02000000000000000000" pitchFamily="2" charset="77"/>
                        </a:rPr>
                        <a:t>Ziel</a:t>
                      </a:r>
                    </a:p>
                  </a:txBody>
                  <a:tcPr marL="68580" marR="68580" marT="34290" marB="3429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 b="0" i="0" noProof="0" dirty="0">
                          <a:latin typeface="Rajdhani Medium" panose="02000000000000000000" pitchFamily="2" charset="77"/>
                          <a:ea typeface="Roboto Cn" pitchFamily="2" charset="0"/>
                          <a:cs typeface="Rajdhani Medium" panose="02000000000000000000" pitchFamily="2" charset="77"/>
                        </a:rPr>
                        <a:t>Beschreibung</a:t>
                      </a:r>
                    </a:p>
                  </a:txBody>
                  <a:tcPr marL="68580" marR="68580" marT="34290" marB="3429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5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400" b="1" noProof="0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明朝"/>
                        <a:cs typeface="Times New Roma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400" b="1" i="0" noProof="0" dirty="0">
                          <a:effectLst/>
                          <a:latin typeface="Rajdhani" panose="02000000000000000000" pitchFamily="2" charset="77"/>
                          <a:ea typeface="Roboto" pitchFamily="2" charset="0"/>
                          <a:cs typeface="Rajdhani" panose="02000000000000000000" pitchFamily="2" charset="77"/>
                        </a:rPr>
                        <a:t>Höchster Datenschutz</a:t>
                      </a:r>
                      <a:endParaRPr lang="de-DE" sz="1400" b="1" i="0" noProof="0" dirty="0">
                        <a:solidFill>
                          <a:srgbClr val="000000"/>
                        </a:solidFill>
                        <a:effectLst/>
                        <a:latin typeface="Rajdhani" panose="02000000000000000000" pitchFamily="2" charset="77"/>
                        <a:ea typeface="Roboto" pitchFamily="2" charset="0"/>
                        <a:cs typeface="Rajdhani" panose="02000000000000000000" pitchFamily="2" charset="77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400" b="0" i="0" noProof="0" dirty="0">
                          <a:effectLst/>
                          <a:latin typeface="Rajdhani Medium" panose="02000000000000000000" pitchFamily="2" charset="77"/>
                          <a:ea typeface="Roboto Cn" pitchFamily="2" charset="0"/>
                          <a:cs typeface="Rajdhani Medium" panose="02000000000000000000" pitchFamily="2" charset="77"/>
                        </a:rPr>
                        <a:t>Der Schutz der personenbezogenen Daten hat oberste Priorität. </a:t>
                      </a:r>
                      <a:r>
                        <a:rPr lang="de-DE" sz="1400" b="0" i="0" noProof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Rajdhani Medium" panose="02000000000000000000" pitchFamily="2" charset="77"/>
                          <a:ea typeface="Roboto Cn" pitchFamily="2" charset="0"/>
                          <a:cs typeface="Rajdhani Medium" panose="02000000000000000000" pitchFamily="2" charset="77"/>
                        </a:rPr>
                        <a:t>(Sicherheit)</a:t>
                      </a:r>
                    </a:p>
                  </a:txBody>
                  <a:tcPr marL="51435" marR="51435" marT="0" marB="0" anchor="ctr">
                    <a:solidFill>
                      <a:schemeClr val="bg1"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535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b="1" noProof="0" dirty="0">
                        <a:effectLst/>
                        <a:latin typeface="+mj-lt"/>
                        <a:ea typeface="ＭＳ 明朝"/>
                        <a:cs typeface="Times New Roma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i="0" kern="1200" noProof="0" dirty="0">
                          <a:latin typeface="Rajdhani" panose="02000000000000000000" pitchFamily="2" charset="77"/>
                          <a:ea typeface="Roboto" pitchFamily="2" charset="0"/>
                          <a:cs typeface="Rajdhani" panose="02000000000000000000" pitchFamily="2" charset="77"/>
                        </a:rPr>
                        <a:t>Effektive Warnfunktionalität</a:t>
                      </a:r>
                      <a:endParaRPr lang="de-DE" sz="1400" b="1" i="0" noProof="0" dirty="0">
                        <a:effectLst/>
                        <a:latin typeface="Rajdhani" panose="02000000000000000000" pitchFamily="2" charset="77"/>
                        <a:ea typeface="Roboto" pitchFamily="2" charset="0"/>
                        <a:cs typeface="Rajdhani" panose="02000000000000000000" pitchFamily="2" charset="77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400" b="0" i="0" noProof="0" dirty="0">
                          <a:effectLst/>
                          <a:latin typeface="Rajdhani Medium" panose="02000000000000000000" pitchFamily="2" charset="77"/>
                          <a:ea typeface="Roboto Cn" pitchFamily="2" charset="0"/>
                          <a:cs typeface="Rajdhani Medium" panose="02000000000000000000" pitchFamily="2" charset="77"/>
                        </a:rPr>
                        <a:t>Die App ist ein effektiver Baustein bei der Pandemie-Bekämpfung. </a:t>
                      </a:r>
                      <a:r>
                        <a:rPr lang="de-DE" sz="1400" b="0" i="0" noProof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Rajdhani Medium" panose="02000000000000000000" pitchFamily="2" charset="77"/>
                          <a:ea typeface="Roboto Cn" pitchFamily="2" charset="0"/>
                          <a:cs typeface="Rajdhani Medium" panose="02000000000000000000" pitchFamily="2" charset="77"/>
                        </a:rPr>
                        <a:t>(Funktionale Eignung)</a:t>
                      </a:r>
                    </a:p>
                  </a:txBody>
                  <a:tcPr marL="51435" marR="51435" marT="0" marB="0" anchor="ctr">
                    <a:solidFill>
                      <a:schemeClr val="bg1"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5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400" b="1" noProof="0" dirty="0">
                        <a:effectLst/>
                        <a:latin typeface="+mj-lt"/>
                        <a:ea typeface="ＭＳ 明朝"/>
                        <a:cs typeface="Times New Roma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400" b="1" i="0" kern="1200" noProof="0" dirty="0">
                          <a:latin typeface="Rajdhani" panose="02000000000000000000" pitchFamily="2" charset="77"/>
                          <a:ea typeface="Roboto" pitchFamily="2" charset="0"/>
                          <a:cs typeface="Rajdhani" panose="02000000000000000000" pitchFamily="2" charset="77"/>
                        </a:rPr>
                        <a:t>Attraktive Lösung für App-Nutzer</a:t>
                      </a:r>
                      <a:endParaRPr lang="de-DE" sz="1400" b="1" i="0" noProof="0" dirty="0">
                        <a:effectLst/>
                        <a:latin typeface="Rajdhani" panose="02000000000000000000" pitchFamily="2" charset="77"/>
                        <a:ea typeface="Roboto" pitchFamily="2" charset="0"/>
                        <a:cs typeface="Rajdhani" panose="02000000000000000000" pitchFamily="2" charset="77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400" b="0" i="0" noProof="0" dirty="0">
                          <a:effectLst/>
                          <a:latin typeface="Rajdhani Medium" panose="02000000000000000000" pitchFamily="2" charset="77"/>
                          <a:ea typeface="Roboto Cn" pitchFamily="2" charset="0"/>
                          <a:cs typeface="Rajdhani Medium" panose="02000000000000000000" pitchFamily="2" charset="77"/>
                        </a:rPr>
                        <a:t>Die App ist leicht zu installieren sowie intuitiv und effizient zu bedienen.</a:t>
                      </a:r>
                      <a:r>
                        <a:rPr lang="de-DE" sz="1400" b="0" i="0" noProof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Rajdhani Medium" panose="02000000000000000000" pitchFamily="2" charset="77"/>
                          <a:ea typeface="Roboto Cn" pitchFamily="2" charset="0"/>
                          <a:cs typeface="Rajdhani Medium" panose="02000000000000000000" pitchFamily="2" charset="77"/>
                        </a:rPr>
                        <a:t> (Benutzbarkeit)</a:t>
                      </a:r>
                    </a:p>
                  </a:txBody>
                  <a:tcPr marL="51435" marR="51435" marT="0" marB="0" anchor="ctr">
                    <a:solidFill>
                      <a:schemeClr val="bg1"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8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400" b="1" noProof="0" dirty="0">
                        <a:effectLst/>
                        <a:latin typeface="+mj-lt"/>
                        <a:ea typeface="ＭＳ 明朝"/>
                        <a:cs typeface="Times New Roma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400" b="1" i="0" kern="1200" noProof="0" dirty="0">
                          <a:latin typeface="Rajdhani" panose="02000000000000000000" pitchFamily="2" charset="77"/>
                          <a:ea typeface="Roboto" pitchFamily="2" charset="0"/>
                          <a:cs typeface="Rajdhani" panose="02000000000000000000" pitchFamily="2" charset="77"/>
                        </a:rPr>
                        <a:t>Hohe Zuverlässigkeit</a:t>
                      </a:r>
                      <a:endParaRPr lang="de-DE" sz="1400" b="1" i="0" noProof="0" dirty="0">
                        <a:effectLst/>
                        <a:latin typeface="Rajdhani" panose="02000000000000000000" pitchFamily="2" charset="77"/>
                        <a:ea typeface="Roboto" pitchFamily="2" charset="0"/>
                        <a:cs typeface="Rajdhani" panose="02000000000000000000" pitchFamily="2" charset="77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kern="1200" dirty="0">
                          <a:solidFill>
                            <a:schemeClr val="tx1"/>
                          </a:solidFill>
                          <a:effectLst/>
                          <a:latin typeface="Rajdhani Medium" panose="02000000000000000000" pitchFamily="2" charset="77"/>
                          <a:ea typeface="Roboto Cn" pitchFamily="2" charset="0"/>
                          <a:cs typeface="Rajdhani Medium" panose="02000000000000000000" pitchFamily="2" charset="77"/>
                        </a:rPr>
                        <a:t>Die Lösung geht mit Lastspitzen wegen hoher Nutzer- oder Infektionszahlen ebenso souverän um, wie mit Störungen und böswilligen Angriffen.</a:t>
                      </a:r>
                      <a:r>
                        <a:rPr lang="de-DE" sz="1400" b="0" i="0" noProof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Rajdhani Medium" panose="02000000000000000000" pitchFamily="2" charset="77"/>
                          <a:ea typeface="Roboto Cn" pitchFamily="2" charset="0"/>
                          <a:cs typeface="Rajdhani Medium" panose="02000000000000000000" pitchFamily="2" charset="77"/>
                        </a:rPr>
                        <a:t> (Zuverlässigkeit)</a:t>
                      </a:r>
                    </a:p>
                  </a:txBody>
                  <a:tcPr marL="51435" marR="51435" marT="0" marB="0" anchor="ctr">
                    <a:solidFill>
                      <a:schemeClr val="bg1"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8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de-DE" sz="1400" b="1" noProof="0" dirty="0">
                        <a:effectLst/>
                        <a:latin typeface="+mj-lt"/>
                        <a:ea typeface="ＭＳ 明朝"/>
                        <a:cs typeface="Times New Roman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400" b="1" i="0" kern="1200" noProof="0" dirty="0">
                          <a:latin typeface="Rajdhani" panose="02000000000000000000" pitchFamily="2" charset="77"/>
                          <a:ea typeface="Roboto" pitchFamily="2" charset="0"/>
                          <a:cs typeface="Rajdhani" panose="02000000000000000000" pitchFamily="2" charset="77"/>
                        </a:rPr>
                        <a:t>Gute Wartbarkeit</a:t>
                      </a:r>
                      <a:endParaRPr lang="de-DE" sz="1400" b="1" i="0" noProof="0" dirty="0">
                        <a:effectLst/>
                        <a:latin typeface="Rajdhani" panose="02000000000000000000" pitchFamily="2" charset="77"/>
                        <a:ea typeface="Roboto" pitchFamily="2" charset="0"/>
                        <a:cs typeface="Rajdhani" panose="02000000000000000000" pitchFamily="2" charset="77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kern="1200" noProof="0" dirty="0">
                          <a:latin typeface="Rajdhani Medium" panose="02000000000000000000" pitchFamily="2" charset="77"/>
                          <a:ea typeface="Roboto Cn" pitchFamily="2" charset="0"/>
                          <a:cs typeface="Rajdhani Medium" panose="02000000000000000000" pitchFamily="2" charset="77"/>
                        </a:rPr>
                        <a:t>Die Software lässt sich leicht anpassen, wenn z. B. Nutzer/-innen, Politik oder neue Forschungsergebnisse es erfordern.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kern="1200" noProof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Rajdhani Medium" panose="02000000000000000000" pitchFamily="2" charset="77"/>
                          <a:ea typeface="Roboto Cn" pitchFamily="2" charset="0"/>
                          <a:cs typeface="Rajdhani Medium" panose="02000000000000000000" pitchFamily="2" charset="77"/>
                        </a:rPr>
                        <a:t>(Wartbarkeit/Erweiterbarkeit)</a:t>
                      </a:r>
                      <a:endParaRPr lang="de-DE" sz="1400" b="0" i="0" noProof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Rajdhani Medium" panose="02000000000000000000" pitchFamily="2" charset="77"/>
                        <a:ea typeface="Roboto Cn" pitchFamily="2" charset="0"/>
                        <a:cs typeface="Rajdhani Medium" panose="02000000000000000000" pitchFamily="2" charset="77"/>
                      </a:endParaRPr>
                    </a:p>
                  </a:txBody>
                  <a:tcPr marL="51435" marR="51435" marT="0" marB="0" anchor="ctr">
                    <a:solidFill>
                      <a:schemeClr val="bg1"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43">
            <a:extLst>
              <a:ext uri="{FF2B5EF4-FFF2-40B4-BE49-F238E27FC236}">
                <a16:creationId xmlns:a16="http://schemas.microsoft.com/office/drawing/2014/main" id="{03137558-D1A3-51AF-F2B1-07EBE4CE11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004" y="2220927"/>
            <a:ext cx="380816" cy="380816"/>
          </a:xfrm>
          <a:prstGeom prst="rect">
            <a:avLst/>
          </a:prstGeom>
        </p:spPr>
      </p:pic>
      <p:pic>
        <p:nvPicPr>
          <p:cNvPr id="8" name="Picture 41">
            <a:extLst>
              <a:ext uri="{FF2B5EF4-FFF2-40B4-BE49-F238E27FC236}">
                <a16:creationId xmlns:a16="http://schemas.microsoft.com/office/drawing/2014/main" id="{B6AFE651-09DD-9896-D128-D45A2EE2A1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003" y="3436107"/>
            <a:ext cx="380816" cy="380816"/>
          </a:xfrm>
          <a:prstGeom prst="rect">
            <a:avLst/>
          </a:prstGeom>
        </p:spPr>
      </p:pic>
      <p:pic>
        <p:nvPicPr>
          <p:cNvPr id="9" name="Picture 45">
            <a:extLst>
              <a:ext uri="{FF2B5EF4-FFF2-40B4-BE49-F238E27FC236}">
                <a16:creationId xmlns:a16="http://schemas.microsoft.com/office/drawing/2014/main" id="{7F46994E-471E-434D-0932-547C711400E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922" y="1667027"/>
            <a:ext cx="374552" cy="374552"/>
          </a:xfrm>
          <a:prstGeom prst="rect">
            <a:avLst/>
          </a:prstGeom>
        </p:spPr>
      </p:pic>
      <p:pic>
        <p:nvPicPr>
          <p:cNvPr id="10" name="Picture 44">
            <a:extLst>
              <a:ext uri="{FF2B5EF4-FFF2-40B4-BE49-F238E27FC236}">
                <a16:creationId xmlns:a16="http://schemas.microsoft.com/office/drawing/2014/main" id="{D9BEF2CF-0BAC-5E98-00BD-48FE65ED3EC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605" y="4089592"/>
            <a:ext cx="374552" cy="374552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CCAE0D1E-02B5-0534-94E7-88D2A25E3B2F}"/>
              </a:ext>
            </a:extLst>
          </p:cNvPr>
          <p:cNvSpPr txBox="1"/>
          <p:nvPr/>
        </p:nvSpPr>
        <p:spPr>
          <a:xfrm>
            <a:off x="2190985" y="4751780"/>
            <a:ext cx="432041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350" i="1" dirty="0">
                <a:solidFill>
                  <a:schemeClr val="bg1">
                    <a:lumMod val="50000"/>
                  </a:schemeClr>
                </a:solidFill>
                <a:latin typeface="Rajdhani Medium" panose="02000000000000000000" pitchFamily="2" charset="77"/>
                <a:ea typeface="Roboto Cn" pitchFamily="2" charset="0"/>
                <a:cs typeface="Rajdhani Medium" panose="02000000000000000000" pitchFamily="2" charset="77"/>
              </a:rPr>
              <a:t>Die Reihenfolge gibt Orientierung bezüglich der Wichtigkeit.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F707F26-CBCB-A2CE-CE33-1A785A6B3A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855" y="2760306"/>
            <a:ext cx="402452" cy="414288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826159D-71A6-AD5F-465A-A9BF285F0038}"/>
              </a:ext>
            </a:extLst>
          </p:cNvPr>
          <p:cNvSpPr txBox="1"/>
          <p:nvPr/>
        </p:nvSpPr>
        <p:spPr>
          <a:xfrm>
            <a:off x="4788024" y="561249"/>
            <a:ext cx="38884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500" dirty="0">
                <a:latin typeface="Rajdhani Medium" panose="02000000000000000000" pitchFamily="2" charset="77"/>
                <a:ea typeface="Roboto Cn" pitchFamily="2" charset="0"/>
                <a:cs typeface="Rajdhani Medium" panose="02000000000000000000" pitchFamily="2" charset="77"/>
              </a:rPr>
              <a:t>Ein etwas längerer, erklärender Titel ist an dieser Stelle optional möglich.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A9E37C7-1775-2F48-A8ED-5C8F393999EC}"/>
              </a:ext>
            </a:extLst>
          </p:cNvPr>
          <p:cNvSpPr txBox="1">
            <a:spLocks/>
          </p:cNvSpPr>
          <p:nvPr/>
        </p:nvSpPr>
        <p:spPr>
          <a:xfrm>
            <a:off x="509913" y="222550"/>
            <a:ext cx="6380466" cy="621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1"/>
                </a:solidFill>
                <a:latin typeface="Rajdhani" panose="02000000000000000000" pitchFamily="2" charset="77"/>
                <a:ea typeface="+mj-ea"/>
                <a:cs typeface="Rajdhani" panose="02000000000000000000" pitchFamily="2" charset="77"/>
              </a:defRPr>
            </a:lvl1pPr>
          </a:lstStyle>
          <a:p>
            <a:r>
              <a:rPr lang="de-DE" dirty="0"/>
              <a:t>Tabelle mit Icons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499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544&quot;&gt;&lt;property id=&quot;20148&quot; value=&quot;5&quot;/&gt;&lt;property id=&quot;20300&quot; value=&quot;Folie 3 - &amp;quot;Stefan Zörner&amp;quot;&quot;/&gt;&lt;property id=&quot;20307&quot; value=&quot;300&quot;/&gt;&lt;/object&gt;&lt;object type=&quot;3&quot; unique_id=&quot;10545&quot;&gt;&lt;property id=&quot;20148&quot; value=&quot;5&quot;/&gt;&lt;property id=&quot;20300&quot; value=&quot;Folie 6&quot;/&gt;&lt;property id=&quot;20307&quot; value=&quot;301&quot;/&gt;&lt;/object&gt;&lt;object type=&quot;3&quot; unique_id=&quot;10798&quot;&gt;&lt;property id=&quot;20148&quot; value=&quot;5&quot;/&gt;&lt;property id=&quot;20300&quot; value=&quot;Folie 7&quot;/&gt;&lt;property id=&quot;20307&quot; value=&quot;302&quot;/&gt;&lt;/object&gt;&lt;object type=&quot;3&quot; unique_id=&quot;10799&quot;&gt;&lt;property id=&quot;20148&quot; value=&quot;5&quot;/&gt;&lt;property id=&quot;20300&quot; value=&quot;Folie 8&quot;/&gt;&lt;property id=&quot;20307&quot; value=&quot;303&quot;/&gt;&lt;/object&gt;&lt;object type=&quot;3&quot; unique_id=&quot;11023&quot;&gt;&lt;property id=&quot;20148&quot; value=&quot;5&quot;/&gt;&lt;property id=&quot;20300&quot; value=&quot;Folie 9 - &amp;quot;Aufgabe (Teil 1)&amp;quot;&quot;/&gt;&lt;property id=&quot;20307&quot; value=&quot;305&quot;/&gt;&lt;/object&gt;&lt;object type=&quot;3&quot; unique_id=&quot;11141&quot;&gt;&lt;property id=&quot;20148&quot; value=&quot;5&quot;/&gt;&lt;property id=&quot;20300&quot; value=&quot;Folie 10 - &amp;quot;Aufgabe (Teil 2)&amp;quot;&quot;/&gt;&lt;property id=&quot;20307&quot; value=&quot;306&quot;/&gt;&lt;/object&gt;&lt;object type=&quot;3&quot; unique_id=&quot;11340&quot;&gt;&lt;property id=&quot;20148&quot; value=&quot;5&quot;/&gt;&lt;property id=&quot;20300&quot; value=&quot;Folie 2 - &amp;quot;Verunfallte Softwarearchitektur?&amp;quot;&quot;/&gt;&lt;property id=&quot;20307&quot; value=&quot;307&quot;/&gt;&lt;/object&gt;&lt;object type=&quot;3&quot; unique_id=&quot;11381&quot;&gt;&lt;property id=&quot;20148&quot; value=&quot;5&quot;/&gt;&lt;property id=&quot;20300&quot; value=&quot;Folie 11 - &amp;quot;Malariamücke vs. Schwertwal?&amp;quot;&quot;/&gt;&lt;property id=&quot;20307&quot; value=&quot;308&quot;/&gt;&lt;/object&gt;&lt;object type=&quot;3&quot; unique_id=&quot;12270&quot;&gt;&lt;property id=&quot;20148&quot; value=&quot;5&quot;/&gt;&lt;property id=&quot;20300&quot; value=&quot;Folie 14 - &amp;quot;Was ist Softwarearchitektur?&amp;quot;&quot;/&gt;&lt;property id=&quot;20307&quot; value=&quot;320&quot;/&gt;&lt;/object&gt;&lt;object type=&quot;3&quot; unique_id=&quot;12271&quot;&gt;&lt;property id=&quot;20148&quot; value=&quot;5&quot;/&gt;&lt;property id=&quot;20300&quot; value=&quot;Folie 18 - &amp;quot;Was ist gute Softwarearchitektur?&amp;quot;&quot;/&gt;&lt;property id=&quot;20307&quot; value=&quot;321&quot;/&gt;&lt;/object&gt;&lt;object type=&quot;3&quot; unique_id=&quot;12272&quot;&gt;&lt;property id=&quot;20148&quot; value=&quot;5&quot;/&gt;&lt;property id=&quot;20300&quot; value=&quot;Folie 17 - &amp;quot;„Verunfallte“ Softwarearchitektur?&amp;quot;&quot;/&gt;&lt;property id=&quot;20307&quot; value=&quot;322&quot;/&gt;&lt;/object&gt;&lt;object type=&quot;3&quot; unique_id=&quot;12504&quot;&gt;&lt;property id=&quot;20148&quot; value=&quot;5&quot;/&gt;&lt;property id=&quot;20300&quot; value=&quot;Folie 13&quot;/&gt;&lt;property id=&quot;20307&quot; value=&quot;323&quot;/&gt;&lt;/object&gt;&lt;object type=&quot;3&quot; unique_id=&quot;12505&quot;&gt;&lt;property id=&quot;20148&quot; value=&quot;5&quot;/&gt;&lt;property id=&quot;20300&quot; value=&quot;Folie 21&quot;/&gt;&lt;property id=&quot;20307&quot; value=&quot;324&quot;/&gt;&lt;/object&gt;&lt;object type=&quot;3&quot; unique_id=&quot;12650&quot;&gt;&lt;property id=&quot;20148&quot; value=&quot;5&quot;/&gt;&lt;property id=&quot;20300&quot; value=&quot;Folie 34&quot;/&gt;&lt;property id=&quot;20307&quot; value=&quot;326&quot;/&gt;&lt;/object&gt;&lt;object type=&quot;3&quot; unique_id=&quot;12726&quot;&gt;&lt;property id=&quot;20148&quot; value=&quot;5&quot;/&gt;&lt;property id=&quot;20300&quot; value=&quot;Folie 38 - &amp;quot;Wann eine Entscheidung treffen?&amp;quot;&quot;/&gt;&lt;property id=&quot;20307&quot; value=&quot;327&quot;/&gt;&lt;/object&gt;&lt;object type=&quot;3&quot; unique_id=&quot;12935&quot;&gt;&lt;property id=&quot;20148&quot; value=&quot;5&quot;/&gt;&lt;property id=&quot;20300&quot; value=&quot;Folie 41&quot;/&gt;&lt;property id=&quot;20307&quot; value=&quot;328&quot;/&gt;&lt;/object&gt;&lt;object type=&quot;3&quot; unique_id=&quot;12936&quot;&gt;&lt;property id=&quot;20148&quot; value=&quot;5&quot;/&gt;&lt;property id=&quot;20300&quot; value=&quot;Folie 44 - &amp;quot;Beispiel&amp;quot;&quot;/&gt;&lt;property id=&quot;20307&quot; value=&quot;329&quot;/&gt;&lt;/object&gt;&lt;object type=&quot;3&quot; unique_id=&quot;12937&quot;&gt;&lt;property id=&quot;20148&quot; value=&quot;5&quot;/&gt;&lt;property id=&quot;20300&quot; value=&quot;Folie 50&quot;/&gt;&lt;property id=&quot;20307&quot; value=&quot;330&quot;/&gt;&lt;/object&gt;&lt;object type=&quot;3&quot; unique_id=&quot;12938&quot;&gt;&lt;property id=&quot;20148&quot; value=&quot;5&quot;/&gt;&lt;property id=&quot;20300&quot; value=&quot;Folie 57 - &amp;quot;Stufen der Softwarearchitektur&amp;quot;&quot;/&gt;&lt;property id=&quot;20307&quot; value=&quot;331&quot;/&gt;&lt;/object&gt;&lt;object type=&quot;3&quot; unique_id=&quot;12939&quot;&gt;&lt;property id=&quot;20148&quot; value=&quot;5&quot;/&gt;&lt;property id=&quot;20300&quot; value=&quot;Folie 58&quot;/&gt;&lt;property id=&quot;20307&quot; value=&quot;332&quot;/&gt;&lt;/object&gt;&lt;object type=&quot;3&quot; unique_id=&quot;13734&quot;&gt;&lt;property id=&quot;20148&quot; value=&quot;5&quot;/&gt;&lt;property id=&quot;20300&quot; value=&quot;Folie 12 - &amp;quot;Äpfel mit Birnen vergleichen?&amp;quot;&quot;/&gt;&lt;property id=&quot;20307&quot; value=&quot;336&quot;/&gt;&lt;/object&gt;&lt;object type=&quot;3&quot; unique_id=&quot;13983&quot;&gt;&lt;property id=&quot;20148&quot; value=&quot;5&quot;/&gt;&lt;property id=&quot;20300&quot; value=&quot;Folie 15 - &amp;quot;Expertenmeinungen&amp;quot;&quot;/&gt;&lt;property id=&quot;20307&quot; value=&quot;337&quot;/&gt;&lt;/object&gt;&lt;object type=&quot;3&quot; unique_id=&quot;13984&quot;&gt;&lt;property id=&quot;20148&quot; value=&quot;5&quot;/&gt;&lt;property id=&quot;20300&quot; value=&quot;Folie 16 - &amp;quot;Auf den Punkt gebracht …&amp;quot;&quot;/&gt;&lt;property id=&quot;20307&quot; value=&quot;338&quot;/&gt;&lt;/object&gt;&lt;object type=&quot;3&quot; unique_id=&quot;14433&quot;&gt;&lt;property id=&quot;20148&quot; value=&quot;5&quot;/&gt;&lt;property id=&quot;20300&quot; value=&quot;Folie 19 - &amp;quot;Was ist Architekturbewertung?&amp;quot;&quot;/&gt;&lt;property id=&quot;20307&quot; value=&quot;341&quot;/&gt;&lt;/object&gt;&lt;object type=&quot;3&quot; unique_id=&quot;15082&quot;&gt;&lt;property id=&quot;20148&quot; value=&quot;5&quot;/&gt;&lt;property id=&quot;20300&quot; value=&quot;Folie 39 - &amp;quot;Lese-Tipp&amp;quot;&quot;/&gt;&lt;property id=&quot;20307&quot; value=&quot;342&quot;/&gt;&lt;/object&gt;&lt;object type=&quot;3&quot; unique_id=&quot;15719&quot;&gt;&lt;property id=&quot;20148&quot; value=&quot;5&quot;/&gt;&lt;property id=&quot;20300&quot; value=&quot;Folie 22 - &amp;quot;Beispiel: Ein Schach-Programm&amp;quot;&quot;/&gt;&lt;property id=&quot;20307&quot; value=&quot;344&quot;/&gt;&lt;/object&gt;&lt;object type=&quot;3&quot; unique_id=&quot;15720&quot;&gt;&lt;property id=&quot;20148&quot; value=&quot;5&quot;/&gt;&lt;property id=&quot;20300&quot; value=&quot;Folie 23 - &amp;quot;Konkrete Fragestellung&amp;quot;&quot;/&gt;&lt;property id=&quot;20307&quot; value=&quot;345&quot;/&gt;&lt;/object&gt;&lt;object type=&quot;3&quot; unique_id=&quot;15721&quot;&gt;&lt;property id=&quot;20148&quot; value=&quot;5&quot;/&gt;&lt;property id=&quot;20300&quot; value=&quot;Folie 24 - &amp;quot;Option 1: 2-dimensionales Array&amp;quot;&quot;/&gt;&lt;property id=&quot;20307&quot; value=&quot;346&quot;/&gt;&lt;/object&gt;&lt;object type=&quot;3&quot; unique_id=&quot;15722&quot;&gt;&lt;property id=&quot;20148&quot; value=&quot;5&quot;/&gt;&lt;property id=&quot;20300&quot; value=&quot;Folie 25 - &amp;quot;Option 2: Bitfelder &amp;quot;&quot;/&gt;&lt;property id=&quot;20307&quot; value=&quot;347&quot;/&gt;&lt;/object&gt;&lt;object type=&quot;3&quot; unique_id=&quot;16983&quot;&gt;&lt;property id=&quot;20148&quot; value=&quot;5&quot;/&gt;&lt;property id=&quot;20300&quot; value=&quot;Folie 28&quot;/&gt;&lt;property id=&quot;20307&quot; value=&quot;348&quot;/&gt;&lt;/object&gt;&lt;object type=&quot;3&quot; unique_id=&quot;16984&quot;&gt;&lt;property id=&quot;20148&quot; value=&quot;5&quot;/&gt;&lt;property id=&quot;20300&quot; value=&quot;Folie 29 - &amp;quot;Qualitätsziele&amp;quot;&quot;/&gt;&lt;property id=&quot;20307&quot; value=&quot;349&quot;/&gt;&lt;/object&gt;&lt;object type=&quot;3&quot; unique_id=&quot;18628&quot;&gt;&lt;property id=&quot;20148&quot; value=&quot;5&quot;/&gt;&lt;property id=&quot;20300&quot; value=&quot;Folie 31 - &amp;quot;Konkretisierung durch Szenarien&amp;quot;&quot;/&gt;&lt;property id=&quot;20307&quot; value=&quot;353&quot;/&gt;&lt;/object&gt;&lt;object type=&quot;3&quot; unique_id=&quot;18629&quot;&gt;&lt;property id=&quot;20148&quot; value=&quot;5&quot;/&gt;&lt;property id=&quot;20300&quot; value=&quot;Folie 33 - &amp;quot;Bezug zu Architekturbewertung&amp;quot;&quot;/&gt;&lt;property id=&quot;20307&quot; value=&quot;354&quot;/&gt;&lt;/object&gt;&lt;object type=&quot;3&quot; unique_id=&quot;18826&quot;&gt;&lt;property id=&quot;20148&quot; value=&quot;5&quot;/&gt;&lt;property id=&quot;20300&quot; value=&quot;Folie 26 - &amp;quot;Qualitätsmerkmale ausbalancieren&amp;quot;&quot;/&gt;&lt;property id=&quot;20307&quot; value=&quot;355&quot;/&gt;&lt;/object&gt;&lt;object type=&quot;3&quot; unique_id=&quot;18827&quot;&gt;&lt;property id=&quot;20148&quot; value=&quot;5&quot;/&gt;&lt;property id=&quot;20300&quot; value=&quot;Folie 27 - &amp;quot;Expertenmeinung&amp;quot;&quot;/&gt;&lt;property id=&quot;20307&quot; value=&quot;356&quot;/&gt;&lt;/object&gt;&lt;object type=&quot;3&quot; unique_id=&quot;19083&quot;&gt;&lt;property id=&quot;20148&quot; value=&quot;5&quot;/&gt;&lt;property id=&quot;20300&quot; value=&quot;Folie 62 - &amp;quot;Drei Dinge&amp;quot;&quot;/&gt;&lt;property id=&quot;20307&quot; value=&quot;357&quot;/&gt;&lt;/object&gt;&lt;object type=&quot;3&quot; unique_id=&quot;19654&quot;&gt;&lt;property id=&quot;20148&quot; value=&quot;5&quot;/&gt;&lt;property id=&quot;20300&quot; value=&quot;Folie 37 - &amp;quot;Protokolle für Schachprogramme&amp;quot;&quot;/&gt;&lt;property id=&quot;20307&quot; value=&quot;358&quot;/&gt;&lt;/object&gt;&lt;object type=&quot;3&quot; unique_id=&quot;20344&quot;&gt;&lt;property id=&quot;20148&quot; value=&quot;5&quot;/&gt;&lt;property id=&quot;20300&quot; value=&quot;Folie 52 - &amp;quot;Drei Dinge&amp;quot;&quot;/&gt;&lt;property id=&quot;20307&quot; value=&quot;361&quot;/&gt;&lt;/object&gt;&lt;object type=&quot;3&quot; unique_id=&quot;20345&quot;&gt;&lt;property id=&quot;20148&quot; value=&quot;5&quot;/&gt;&lt;property id=&quot;20300&quot; value=&quot;Folie 53 - &amp;quot;Stufen der Softwarearchitektur&amp;quot;&quot;/&gt;&lt;property id=&quot;20307&quot; value=&quot;362&quot;/&gt;&lt;/object&gt;&lt;object type=&quot;3&quot; unique_id=&quot;20626&quot;&gt;&lt;property id=&quot;20148&quot; value=&quot;5&quot;/&gt;&lt;property id=&quot;20300&quot; value=&quot;Folie 54 - &amp;quot;Kommunikation&amp;quot;&quot;/&gt;&lt;property id=&quot;20307&quot; value=&quot;363&quot;/&gt;&lt;/object&gt;&lt;object type=&quot;3&quot; unique_id=&quot;20627&quot;&gt;&lt;property id=&quot;20148&quot; value=&quot;5&quot;/&gt;&lt;property id=&quot;20300&quot; value=&quot;Folie 55 - &amp;quot;Struktur&amp;quot;&quot;/&gt;&lt;property id=&quot;20307&quot; value=&quot;364&quot;/&gt;&lt;/object&gt;&lt;object type=&quot;3&quot; unique_id=&quot;20628&quot;&gt;&lt;property id=&quot;20148&quot; value=&quot;5&quot;/&gt;&lt;property id=&quot;20300&quot; value=&quot;Folie 56 - &amp;quot;Übergreifende Konzepte&amp;quot;&quot;/&gt;&lt;property id=&quot;20307&quot; value=&quot;365&quot;/&gt;&lt;/object&gt;&lt;object type=&quot;3&quot; unique_id=&quot;21455&quot;&gt;&lt;property id=&quot;20148&quot; value=&quot;5&quot;/&gt;&lt;property id=&quot;20300&quot; value=&quot;Folie 60 - &amp;quot;Äpfel mit Birnen vergleichen?&amp;quot;&quot;/&gt;&lt;property id=&quot;20307&quot; value=&quot;366&quot;/&gt;&lt;/object&gt;&lt;object type=&quot;3&quot; unique_id=&quot;21456&quot;&gt;&lt;property id=&quot;20148&quot; value=&quot;5&quot;/&gt;&lt;property id=&quot;20300&quot; value=&quot;Folie 61 - &amp;quot;Fazit&amp;quot;&quot;/&gt;&lt;property id=&quot;20307&quot; value=&quot;367&quot;/&gt;&lt;/object&gt;&lt;object type=&quot;3&quot; unique_id=&quot;21762&quot;&gt;&lt;property id=&quot;20148&quot; value=&quot;5&quot;/&gt;&lt;property id=&quot;20300&quot; value=&quot;Folie 63 - &amp;quot;„The Accidental Architecture“&amp;quot;&quot;/&gt;&lt;property id=&quot;20307&quot; value=&quot;368&quot;/&gt;&lt;/object&gt;&lt;object type=&quot;3&quot; unique_id=&quot;21949&quot;&gt;&lt;property id=&quot;20148&quot; value=&quot;5&quot;/&gt;&lt;property id=&quot;20300&quot; value=&quot;Folie 64 - &amp;quot;Softwarearchitekturen dokumentieren und kommunizieren&amp;quot;&quot;/&gt;&lt;property id=&quot;20307&quot; value=&quot;369&quot;/&gt;&lt;/object&gt;&lt;object type=&quot;3&quot; unique_id=&quot;22957&quot;&gt;&lt;property id=&quot;20148&quot; value=&quot;5&quot;/&gt;&lt;property id=&quot;20300&quot; value=&quot;Folie 49 - &amp;quot;Expertenmeinungen&amp;quot;&quot;/&gt;&lt;property id=&quot;20307&quot; value=&quot;371&quot;/&gt;&lt;/object&gt;&lt;object type=&quot;3&quot; unique_id=&quot;23788&quot;&gt;&lt;property id=&quot;20148&quot; value=&quot;5&quot;/&gt;&lt;property id=&quot;20300&quot; value=&quot;Folie 59 - &amp;quot;Äpfel mit Birnen vergleichen?&amp;quot;&quot;/&gt;&lt;property id=&quot;20307&quot; value=&quot;372&quot;/&gt;&lt;/object&gt;&lt;object type=&quot;3&quot; unique_id=&quot;24295&quot;&gt;&lt;property id=&quot;20148&quot; value=&quot;5&quot;/&gt;&lt;property id=&quot;20300&quot; value=&quot;Folie 65&quot;/&gt;&lt;property id=&quot;20307&quot; value=&quot;373&quot;/&gt;&lt;/object&gt;&lt;object type=&quot;3&quot; unique_id=&quot;24560&quot;&gt;&lt;property id=&quot;20148&quot; value=&quot;5&quot;/&gt;&lt;property id=&quot;20300&quot; value=&quot;Folie 66 - &amp;quot;Blog-Serie bei Hanser Update&amp;quot;&quot;/&gt;&lt;property id=&quot;20307&quot; value=&quot;376&quot;/&gt;&lt;/object&gt;&lt;object type=&quot;3&quot; unique_id=&quot;25223&quot;&gt;&lt;property id=&quot;20148&quot; value=&quot;5&quot;/&gt;&lt;property id=&quot;20300&quot; value=&quot;Folie 30 - &amp;quot;Beispiel: Qualitätsziele DokChess&amp;quot;&quot;/&gt;&lt;property id=&quot;20307&quot; value=&quot;378&quot;/&gt;&lt;/object&gt;&lt;object type=&quot;3&quot; unique_id=&quot;27089&quot;&gt;&lt;property id=&quot;20148&quot; value=&quot;5&quot;/&gt;&lt;property id=&quot;20300&quot; value=&quot;Folie 36 - &amp;quot;Systemkontext&amp;quot;&quot;/&gt;&lt;property id=&quot;20307&quot; value=&quot;381&quot;/&gt;&lt;/object&gt;&lt;object type=&quot;3&quot; unique_id=&quot;28520&quot;&gt;&lt;property id=&quot;20148&quot; value=&quot;5&quot;/&gt;&lt;property id=&quot;20300&quot; value=&quot;Folie 43 - &amp;quot;Was ist Umsetzungsüberprüfung?&amp;quot;&quot;/&gt;&lt;property id=&quot;20307&quot; value=&quot;382&quot;/&gt;&lt;/object&gt;&lt;object type=&quot;3&quot; unique_id=&quot;28881&quot;&gt;&lt;property id=&quot;20148&quot; value=&quot;5&quot;/&gt;&lt;property id=&quot;20300&quot; value=&quot;Folie 46 - &amp;quot;Beispieltool: Sonargraph&amp;quot;&quot;/&gt;&lt;property id=&quot;20307&quot; value=&quot;383&quot;/&gt;&lt;/object&gt;&lt;object type=&quot;3&quot; unique_id=&quot;29174&quot;&gt;&lt;property id=&quot;20148&quot; value=&quot;5&quot;/&gt;&lt;property id=&quot;20300&quot; value=&quot;Folie 47 - &amp;quot;Logische Architektur definieren&amp;quot;&quot;/&gt;&lt;property id=&quot;20307&quot; value=&quot;384&quot;/&gt;&lt;/object&gt;&lt;object type=&quot;3&quot; unique_id=&quot;29175&quot;&gt;&lt;property id=&quot;20148&quot; value=&quot;5&quot;/&gt;&lt;property id=&quot;20300&quot; value=&quot;Folie 48 - &amp;quot;„Verstöße“ aufdecken&amp;quot;&quot;/&gt;&lt;property id=&quot;20307&quot; value=&quot;385&quot;/&gt;&lt;/object&gt;&lt;object type=&quot;3&quot; unique_id=&quot;29401&quot;&gt;&lt;property id=&quot;20148&quot; value=&quot;5&quot;/&gt;&lt;property id=&quot;20300&quot; value=&quot;Folie 45 - &amp;quot;Spannende Fragen …&amp;quot;&quot;/&gt;&lt;property id=&quot;20307&quot; value=&quot;386&quot;/&gt;&lt;/object&gt;&lt;object type=&quot;3&quot; unique_id=&quot;30086&quot;&gt;&lt;property id=&quot;20148&quot; value=&quot;5&quot;/&gt;&lt;property id=&quot;20300&quot; value=&quot;Folie 5&quot;/&gt;&lt;property id=&quot;20307&quot; value=&quot;387&quot;/&gt;&lt;/object&gt;&lt;object type=&quot;3&quot; unique_id=&quot;30620&quot;&gt;&lt;property id=&quot;20148&quot; value=&quot;5&quot;/&gt;&lt;property id=&quot;20300&quot; value=&quot;Folie 4&quot;/&gt;&lt;property id=&quot;20307&quot; value=&quot;388&quot;/&gt;&lt;/object&gt;&lt;object type=&quot;3&quot; unique_id=&quot;32589&quot;&gt;&lt;property id=&quot;20148&quot; value=&quot;5&quot;/&gt;&lt;property id=&quot;20300&quot; value=&quot;Folie 40 - &amp;quot;Entscheidungen festhalten&amp;quot;&quot;/&gt;&lt;property id=&quot;20307&quot; value=&quot;389&quot;/&gt;&lt;/object&gt;&lt;object type=&quot;3&quot; unique_id=&quot;32894&quot;&gt;&lt;property id=&quot;20148&quot; value=&quot;5&quot;/&gt;&lt;property id=&quot;20300&quot; value=&quot;Folie 42 - &amp;quot;Was ist Architekturbewertung?&amp;quot;&quot;/&gt;&lt;property id=&quot;20307&quot; value=&quot;390&quot;/&gt;&lt;/object&gt;&lt;object type=&quot;3&quot; unique_id=&quot;33280&quot;&gt;&lt;property id=&quot;20148&quot; value=&quot;5&quot;/&gt;&lt;property id=&quot;20300&quot; value=&quot;Folie 1&quot;/&gt;&lt;property id=&quot;20307&quot; value=&quot;391&quot;/&gt;&lt;/object&gt;&lt;object type=&quot;3&quot; unique_id=&quot;33583&quot;&gt;&lt;property id=&quot;20148&quot; value=&quot;5&quot;/&gt;&lt;property id=&quot;20300&quot; value=&quot;Folie 67&quot;/&gt;&lt;property id=&quot;20307&quot; value=&quot;392&quot;/&gt;&lt;/object&gt;&lt;object type=&quot;3&quot; unique_id=&quot;34355&quot;&gt;&lt;property id=&quot;20148&quot; value=&quot;5&quot;/&gt;&lt;property id=&quot;20300&quot; value=&quot;Folie 51&quot;/&gt;&lt;property id=&quot;20307&quot; value=&quot;393&quot;/&gt;&lt;/object&gt;&lt;object type=&quot;3&quot; unique_id=&quot;34492&quot;&gt;&lt;property id=&quot;20148&quot; value=&quot;5&quot;/&gt;&lt;property id=&quot;20300&quot; value=&quot;Folie 20 - &amp;quot;Was ist Architekturbewertung?&amp;quot;&quot;/&gt;&lt;property id=&quot;20307&quot; value=&quot;394&quot;/&gt;&lt;/object&gt;&lt;object type=&quot;3&quot; unique_id=&quot;34769&quot;&gt;&lt;property id=&quot;20148&quot; value=&quot;5&quot;/&gt;&lt;property id=&quot;20300&quot; value=&quot;Folie 32 - &amp;quot;Konkretisierung durch Szenarien&amp;quot;&quot;/&gt;&lt;property id=&quot;20307&quot; value=&quot;395&quot;/&gt;&lt;/object&gt;&lt;object type=&quot;3&quot; unique_id=&quot;35322&quot;&gt;&lt;property id=&quot;20148&quot; value=&quot;5&quot;/&gt;&lt;property id=&quot;20300&quot; value=&quot;Folie 35 - &amp;quot;Beispiel: Ein Schach-Programm&amp;quot;&quot;/&gt;&lt;property id=&quot;20307&quot; value=&quot;39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enutzerdefiniertes Design">
  <a:themeElements>
    <a:clrScheme name="embarc 2023">
      <a:dk1>
        <a:srgbClr val="000000"/>
      </a:dk1>
      <a:lt1>
        <a:srgbClr val="FFFFFF"/>
      </a:lt1>
      <a:dk2>
        <a:srgbClr val="E17A7C"/>
      </a:dk2>
      <a:lt2>
        <a:srgbClr val="83CBF0"/>
      </a:lt2>
      <a:accent1>
        <a:srgbClr val="EB3C44"/>
      </a:accent1>
      <a:accent2>
        <a:srgbClr val="46AFE2"/>
      </a:accent2>
      <a:accent3>
        <a:srgbClr val="F7DD49"/>
      </a:accent3>
      <a:accent4>
        <a:srgbClr val="B6D8D5"/>
      </a:accent4>
      <a:accent5>
        <a:srgbClr val="EDAFAD"/>
      </a:accent5>
      <a:accent6>
        <a:srgbClr val="F8EAAE"/>
      </a:accent6>
      <a:hlink>
        <a:srgbClr val="5C5F98"/>
      </a:hlink>
      <a:folHlink>
        <a:srgbClr val="96969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Macintosh PowerPoint</Application>
  <PresentationFormat>Bildschirmpräsentation (16:9)</PresentationFormat>
  <Paragraphs>33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3" baseType="lpstr">
      <vt:lpstr>Arial</vt:lpstr>
      <vt:lpstr>Calibri</vt:lpstr>
      <vt:lpstr>Corbel</vt:lpstr>
      <vt:lpstr>Fira Sans Light</vt:lpstr>
      <vt:lpstr>Fira Sans Medium</vt:lpstr>
      <vt:lpstr>Neo Sans Std</vt:lpstr>
      <vt:lpstr>Rajdhani</vt:lpstr>
      <vt:lpstr>Rajdhani Medium</vt:lpstr>
      <vt:lpstr>Rajdhani SemiBold</vt:lpstr>
      <vt:lpstr>Wingdings</vt:lpstr>
      <vt:lpstr>Benutzerdefiniertes Design</vt:lpstr>
      <vt:lpstr>Schnöde Tabelle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Toth</dc:creator>
  <cp:lastModifiedBy>Stefan Zörner</cp:lastModifiedBy>
  <cp:revision>28</cp:revision>
  <dcterms:created xsi:type="dcterms:W3CDTF">2023-04-26T09:40:20Z</dcterms:created>
  <dcterms:modified xsi:type="dcterms:W3CDTF">2024-04-28T12:39:32Z</dcterms:modified>
</cp:coreProperties>
</file>