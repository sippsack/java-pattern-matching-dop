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4"/>
  </p:notesMasterIdLst>
  <p:handoutMasterIdLst>
    <p:handoutMasterId r:id="rId5"/>
  </p:handoutMasterIdLst>
  <p:sldIdLst>
    <p:sldId id="1848" r:id="rId2"/>
    <p:sldId id="1680" r:id="rId3"/>
  </p:sldIdLst>
  <p:sldSz cx="9144000" cy="5143500" type="screen16x9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87E420D-D4C3-0FE2-7390-5578CBC158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638" y="1486837"/>
            <a:ext cx="2451620" cy="3101540"/>
          </a:xfrm>
          <a:prstGeom prst="rect">
            <a:avLst/>
          </a:prstGeom>
        </p:spPr>
      </p:pic>
      <p:pic>
        <p:nvPicPr>
          <p:cNvPr id="1026" name="Picture 2" descr="Press">
            <a:extLst>
              <a:ext uri="{FF2B5EF4-FFF2-40B4-BE49-F238E27FC236}">
                <a16:creationId xmlns:a16="http://schemas.microsoft.com/office/drawing/2014/main" id="{85AD16EE-E52F-6E9E-4892-76820DF8C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02666" y="1324820"/>
            <a:ext cx="1941333" cy="1500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3398CE4-EFE2-6936-BA83-8BA79A0A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Buchtipp zum Thema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B4095CD-588C-9676-1271-3A698D97E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888" y="1486837"/>
            <a:ext cx="5235415" cy="26161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285750">
              <a:tabLst>
                <a:tab pos="142875" algn="l"/>
              </a:tabLst>
            </a:pPr>
            <a:r>
              <a:rPr lang="de-DE" sz="2400" b="1" dirty="0">
                <a:solidFill>
                  <a:schemeClr val="accent1"/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Software-Systeme reviewen</a:t>
            </a:r>
          </a:p>
          <a:p>
            <a:pPr defTabSz="285750">
              <a:tabLst>
                <a:tab pos="142875" algn="l"/>
              </a:tabLst>
            </a:pPr>
            <a:r>
              <a:rPr lang="en-AU" sz="2000" dirty="0" err="1">
                <a:solidFill>
                  <a:schemeClr val="accent1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mit</a:t>
            </a:r>
            <a:r>
              <a:rPr lang="en-AU" sz="2000" dirty="0">
                <a:solidFill>
                  <a:schemeClr val="accent1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 dem Lightweight Approach </a:t>
            </a:r>
          </a:p>
          <a:p>
            <a:pPr defTabSz="285750">
              <a:tabLst>
                <a:tab pos="142875" algn="l"/>
              </a:tabLst>
            </a:pPr>
            <a:r>
              <a:rPr lang="en-AU" sz="2000" dirty="0">
                <a:solidFill>
                  <a:schemeClr val="accent1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for Software Reviews - LASR</a:t>
            </a:r>
          </a:p>
          <a:p>
            <a:pPr defTabSz="285750">
              <a:tabLst>
                <a:tab pos="142875" algn="l"/>
              </a:tabLst>
            </a:pPr>
            <a:endParaRPr lang="de-DE" sz="2000" dirty="0">
              <a:latin typeface="Rajdhani Medium" panose="02000000000000000000" pitchFamily="2" charset="77"/>
              <a:cs typeface="Rajdhani Medium" panose="02000000000000000000" pitchFamily="2" charset="77"/>
            </a:endParaRPr>
          </a:p>
          <a:p>
            <a:pPr defTabSz="285750">
              <a:tabLst>
                <a:tab pos="142875" algn="l"/>
              </a:tabLst>
            </a:pP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Autoren: Stefan Toth, Stefan Zörner</a:t>
            </a:r>
          </a:p>
          <a:p>
            <a:pPr defTabSz="285750">
              <a:tabLst>
                <a:tab pos="142875" algn="l"/>
              </a:tabLst>
            </a:pP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Verlag: </a:t>
            </a:r>
            <a:r>
              <a:rPr lang="de-DE" sz="20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Leanpub</a:t>
            </a: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, September 2023</a:t>
            </a:r>
          </a:p>
          <a:p>
            <a:pPr defTabSz="285750">
              <a:tabLst>
                <a:tab pos="142875" algn="l"/>
              </a:tabLst>
            </a:pP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Sprache: Deutsch, EPUB, PDF</a:t>
            </a:r>
          </a:p>
          <a:p>
            <a:pPr defTabSz="285750">
              <a:tabLst>
                <a:tab pos="142875" algn="l"/>
              </a:tabLst>
            </a:pPr>
            <a:endParaRPr lang="de-DE" sz="2000" dirty="0">
              <a:latin typeface="Rajdhani Medium" panose="02000000000000000000" pitchFamily="2" charset="77"/>
              <a:cs typeface="Rajdhani Medium" panose="02000000000000000000" pitchFamily="2" charset="77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E4E14FF-B3B9-D90E-9C32-13E2D5E55BD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563888" y="4203791"/>
            <a:ext cx="4881367" cy="378662"/>
          </a:xfrm>
          <a:prstGeom prst="rect">
            <a:avLst/>
          </a:prstGeom>
          <a:solidFill>
            <a:schemeClr val="bg1">
              <a:alpha val="50195"/>
            </a:schemeClr>
          </a:solidFill>
          <a:ln w="3175">
            <a:noFill/>
            <a:miter lim="800000"/>
            <a:headEnd/>
            <a:tailEnd/>
          </a:ln>
        </p:spPr>
        <p:txBody>
          <a:bodyPr wrap="square" lIns="67500" tIns="35100" rIns="67500" bIns="35100">
            <a:spAutoFit/>
          </a:bodyPr>
          <a:lstStyle/>
          <a:p>
            <a:pPr algn="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è"/>
              <a:tabLst>
                <a:tab pos="198835" algn="l"/>
              </a:tabLst>
            </a:pPr>
            <a:r>
              <a:rPr lang="de-DE" sz="2000" noProof="1">
                <a:solidFill>
                  <a:schemeClr val="tx2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 </a:t>
            </a:r>
            <a:r>
              <a:rPr lang="de-DE" sz="2000" u="sng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leanpub.com/software-systeme-reviewen/</a:t>
            </a:r>
          </a:p>
        </p:txBody>
      </p:sp>
    </p:spTree>
    <p:extLst>
      <p:ext uri="{BB962C8B-B14F-4D97-AF65-F5344CB8AC3E}">
        <p14:creationId xmlns:p14="http://schemas.microsoft.com/office/powerpoint/2010/main" val="309029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1F6DC018-4F22-B146-9172-77AA93693B3C}"/>
              </a:ext>
            </a:extLst>
          </p:cNvPr>
          <p:cNvSpPr/>
          <p:nvPr/>
        </p:nvSpPr>
        <p:spPr>
          <a:xfrm rot="20457895">
            <a:off x="1416862" y="2515841"/>
            <a:ext cx="9058913" cy="589967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BD4498-A325-A341-8463-F8D786C1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Buchempfehlungen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07893F9-5F3A-BC4C-954E-99F72E77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75606"/>
            <a:ext cx="1554599" cy="2327244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77D09FF2-3BF4-C246-AE3A-07E1A2066F0C}"/>
              </a:ext>
            </a:extLst>
          </p:cNvPr>
          <p:cNvGrpSpPr/>
          <p:nvPr/>
        </p:nvGrpSpPr>
        <p:grpSpPr>
          <a:xfrm>
            <a:off x="2601162" y="2715767"/>
            <a:ext cx="6147302" cy="2160241"/>
            <a:chOff x="266620" y="3501008"/>
            <a:chExt cx="8196403" cy="28803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F65F14-FCB5-6A43-BB77-DED694F78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2004" y="3501008"/>
              <a:ext cx="1831019" cy="2808312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164B8A-D361-6A42-8D9A-86CB3B925F65}"/>
                </a:ext>
              </a:extLst>
            </p:cNvPr>
            <p:cNvSpPr/>
            <p:nvPr/>
          </p:nvSpPr>
          <p:spPr>
            <a:xfrm>
              <a:off x="266620" y="4042226"/>
              <a:ext cx="6084168" cy="23391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Rajdhani" panose="02000000000000000000" pitchFamily="2" charset="77"/>
                  <a:cs typeface="Rajdhani" panose="02000000000000000000" pitchFamily="2" charset="77"/>
                </a:rPr>
                <a:t>The </a:t>
              </a:r>
              <a:r>
                <a:rPr lang="en-US" sz="2400" b="1" dirty="0" err="1">
                  <a:solidFill>
                    <a:schemeClr val="bg1"/>
                  </a:solidFill>
                  <a:latin typeface="Rajdhani" panose="02000000000000000000" pitchFamily="2" charset="77"/>
                  <a:cs typeface="Rajdhani" panose="02000000000000000000" pitchFamily="2" charset="77"/>
                </a:rPr>
                <a:t>DevOps</a:t>
              </a:r>
              <a:r>
                <a:rPr lang="en-US" sz="2400" b="1" dirty="0">
                  <a:solidFill>
                    <a:schemeClr val="bg1"/>
                  </a:solidFill>
                  <a:latin typeface="Rajdhani" panose="02000000000000000000" pitchFamily="2" charset="77"/>
                  <a:cs typeface="Rajdhani" panose="02000000000000000000" pitchFamily="2" charset="77"/>
                </a:rPr>
                <a:t> Handbook</a:t>
              </a:r>
            </a:p>
            <a:p>
              <a:pPr algn="r"/>
              <a:r>
                <a:rPr lang="en-US" sz="1200" dirty="0">
                  <a:solidFill>
                    <a:srgbClr val="000000"/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“How to Create World-Class Agility, Reliability, </a:t>
              </a:r>
            </a:p>
            <a:p>
              <a:pPr algn="r"/>
              <a:r>
                <a:rPr lang="en-US" sz="1200" dirty="0">
                  <a:solidFill>
                    <a:srgbClr val="000000"/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and Security in Technology Organizations”</a:t>
              </a:r>
            </a:p>
            <a:p>
              <a:pPr algn="r"/>
              <a:endParaRPr lang="en-US" sz="1200" dirty="0">
                <a:latin typeface="Rajdhani Medium" panose="02000000000000000000" pitchFamily="2" charset="77"/>
                <a:cs typeface="Rajdhani Medium" panose="02000000000000000000" pitchFamily="2" charset="77"/>
              </a:endParaRPr>
            </a:p>
            <a:p>
              <a:pPr algn="r"/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von Gene Kim, </a:t>
              </a:r>
              <a:r>
                <a:rPr lang="en-US" sz="1200" dirty="0" err="1">
                  <a:latin typeface="Rajdhani Medium" panose="02000000000000000000" pitchFamily="2" charset="77"/>
                  <a:cs typeface="Rajdhani Medium" panose="02000000000000000000" pitchFamily="2" charset="77"/>
                </a:rPr>
                <a:t>Jez</a:t>
              </a:r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 Humble, Patrick </a:t>
              </a:r>
              <a:r>
                <a:rPr lang="en-US" sz="1200" dirty="0" err="1">
                  <a:latin typeface="Rajdhani Medium" panose="02000000000000000000" pitchFamily="2" charset="77"/>
                  <a:cs typeface="Rajdhani Medium" panose="02000000000000000000" pitchFamily="2" charset="77"/>
                </a:rPr>
                <a:t>Debois</a:t>
              </a:r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, John Willis</a:t>
              </a:r>
            </a:p>
            <a:p>
              <a:pPr algn="r"/>
              <a:r>
                <a:rPr lang="en-US" sz="1200" dirty="0" err="1">
                  <a:latin typeface="Rajdhani Medium" panose="02000000000000000000" pitchFamily="2" charset="77"/>
                  <a:cs typeface="Rajdhani Medium" panose="02000000000000000000" pitchFamily="2" charset="77"/>
                </a:rPr>
                <a:t>Taschenbuch</a:t>
              </a:r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: 480 </a:t>
              </a:r>
              <a:r>
                <a:rPr lang="en-US" sz="1200" dirty="0" err="1">
                  <a:latin typeface="Rajdhani Medium" panose="02000000000000000000" pitchFamily="2" charset="77"/>
                  <a:cs typeface="Rajdhani Medium" panose="02000000000000000000" pitchFamily="2" charset="77"/>
                </a:rPr>
                <a:t>Seiten</a:t>
              </a:r>
              <a:endParaRPr lang="en-US" sz="1200" dirty="0">
                <a:latin typeface="Rajdhani Medium" panose="02000000000000000000" pitchFamily="2" charset="77"/>
                <a:cs typeface="Rajdhani Medium" panose="02000000000000000000" pitchFamily="2" charset="77"/>
              </a:endParaRPr>
            </a:p>
            <a:p>
              <a:pPr algn="r"/>
              <a:r>
                <a:rPr lang="en-US" sz="1200" dirty="0" err="1">
                  <a:latin typeface="Rajdhani Medium" panose="02000000000000000000" pitchFamily="2" charset="77"/>
                  <a:cs typeface="Rajdhani Medium" panose="02000000000000000000" pitchFamily="2" charset="77"/>
                </a:rPr>
                <a:t>Verlag</a:t>
              </a:r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: It Revolution Press, </a:t>
              </a:r>
              <a:r>
                <a:rPr lang="en-US" sz="1200" dirty="0" err="1">
                  <a:latin typeface="Rajdhani Medium" panose="02000000000000000000" pitchFamily="2" charset="77"/>
                  <a:cs typeface="Rajdhani Medium" panose="02000000000000000000" pitchFamily="2" charset="77"/>
                </a:rPr>
                <a:t>Oktober</a:t>
              </a:r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 2016</a:t>
              </a:r>
            </a:p>
            <a:p>
              <a:pPr algn="r"/>
              <a:r>
                <a:rPr lang="en-US" sz="1200" dirty="0">
                  <a:latin typeface="Rajdhani Medium" panose="02000000000000000000" pitchFamily="2" charset="77"/>
                  <a:cs typeface="Rajdhani Medium" panose="02000000000000000000" pitchFamily="2" charset="77"/>
                </a:rPr>
                <a:t>ISBN-13: 978-1942788003</a:t>
              </a:r>
            </a:p>
          </p:txBody>
        </p:sp>
      </p:grpSp>
      <p:sp>
        <p:nvSpPr>
          <p:cNvPr id="8" name="Rectangle 10">
            <a:extLst>
              <a:ext uri="{FF2B5EF4-FFF2-40B4-BE49-F238E27FC236}">
                <a16:creationId xmlns:a16="http://schemas.microsoft.com/office/drawing/2014/main" id="{D9E8E9BB-1731-4E4B-8653-866AB53E4D88}"/>
              </a:ext>
            </a:extLst>
          </p:cNvPr>
          <p:cNvSpPr/>
          <p:nvPr/>
        </p:nvSpPr>
        <p:spPr>
          <a:xfrm>
            <a:off x="2393756" y="1275607"/>
            <a:ext cx="45631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The Phoenix Project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“A Novel About IT, </a:t>
            </a:r>
            <a:r>
              <a:rPr lang="en-US" sz="1200" dirty="0" err="1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DevOps</a:t>
            </a:r>
            <a:r>
              <a:rPr lang="en-US" sz="1200" dirty="0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, and Helping Your Business Win”</a:t>
            </a:r>
          </a:p>
          <a:p>
            <a:pPr algn="l"/>
            <a:endParaRPr lang="en-US" sz="1200" dirty="0">
              <a:solidFill>
                <a:srgbClr val="000000"/>
              </a:solidFill>
              <a:latin typeface="Rajdhani Medium" panose="02000000000000000000" pitchFamily="2" charset="77"/>
              <a:cs typeface="Rajdhani Medium" panose="02000000000000000000" pitchFamily="2" charset="77"/>
            </a:endParaRPr>
          </a:p>
          <a:p>
            <a:pPr algn="l"/>
            <a:r>
              <a:rPr lang="en-US" sz="12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Roman von Gene Kim, Kevin Behr, George </a:t>
            </a:r>
            <a:r>
              <a:rPr lang="en-US" sz="12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Spafford</a:t>
            </a:r>
            <a:endParaRPr lang="en-US" sz="1200" dirty="0">
              <a:latin typeface="Rajdhani Medium" panose="02000000000000000000" pitchFamily="2" charset="77"/>
              <a:cs typeface="Rajdhani Medium" panose="02000000000000000000" pitchFamily="2" charset="77"/>
            </a:endParaRPr>
          </a:p>
          <a:p>
            <a:pPr algn="l"/>
            <a:r>
              <a:rPr lang="en-US" sz="12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Gebundene</a:t>
            </a:r>
            <a:r>
              <a:rPr lang="en-US" sz="12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</a:t>
            </a:r>
            <a:r>
              <a:rPr lang="en-US" sz="12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Ausgabe</a:t>
            </a:r>
            <a:r>
              <a:rPr lang="en-US" sz="12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: 343 </a:t>
            </a:r>
            <a:r>
              <a:rPr lang="en-US" sz="12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Seiten</a:t>
            </a:r>
            <a:endParaRPr lang="en-US" sz="1200" dirty="0">
              <a:latin typeface="Rajdhani Medium" panose="02000000000000000000" pitchFamily="2" charset="77"/>
              <a:cs typeface="Rajdhani Medium" panose="02000000000000000000" pitchFamily="2" charset="77"/>
            </a:endParaRPr>
          </a:p>
          <a:p>
            <a:pPr algn="l"/>
            <a:r>
              <a:rPr lang="en-US" sz="12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It Revolution Press, </a:t>
            </a:r>
            <a:r>
              <a:rPr lang="en-US" sz="12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Januar</a:t>
            </a:r>
            <a:r>
              <a:rPr lang="en-US" sz="12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2013</a:t>
            </a:r>
          </a:p>
          <a:p>
            <a:pPr algn="l"/>
            <a:r>
              <a:rPr lang="en-US" sz="12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ISBN-13: 978-0988262591</a:t>
            </a:r>
          </a:p>
        </p:txBody>
      </p:sp>
    </p:spTree>
    <p:extLst>
      <p:ext uri="{BB962C8B-B14F-4D97-AF65-F5344CB8AC3E}">
        <p14:creationId xmlns:p14="http://schemas.microsoft.com/office/powerpoint/2010/main" val="18837632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Macintosh PowerPoint</Application>
  <PresentationFormat>Bildschirmpräsentation (16:9)</PresentationFormat>
  <Paragraphs>25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3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Aktueller Buchtipp zum Thema</vt:lpstr>
      <vt:lpstr>Buchempfehlungen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31</cp:revision>
  <dcterms:created xsi:type="dcterms:W3CDTF">2023-04-26T09:40:20Z</dcterms:created>
  <dcterms:modified xsi:type="dcterms:W3CDTF">2024-04-28T14:01:09Z</dcterms:modified>
</cp:coreProperties>
</file>